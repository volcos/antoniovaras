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y="6858000" cx="12192000"/>
  <p:notesSz cx="6858000" cy="9144000"/>
  <p:embeddedFontLst>
    <p:embeddedFont>
      <p:font typeface="Inter"/>
      <p:regular r:id="rId20"/>
      <p:bold r:id="rId21"/>
      <p:italic r:id="rId22"/>
      <p:boldItalic r:id="rId23"/>
    </p:embeddedFont>
    <p:embeddedFont>
      <p:font typeface="Montserrat ExtraBold"/>
      <p:bold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FA3389D-E4C1-4B99-A22A-F0EB57A93792}">
  <a:tblStyle styleId="{5FA3389D-E4C1-4B99-A22A-F0EB57A9379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regular.fntdata"/><Relationship Id="rId22" Type="http://schemas.openxmlformats.org/officeDocument/2006/relationships/font" Target="fonts/Inter-italic.fntdata"/><Relationship Id="rId21" Type="http://schemas.openxmlformats.org/officeDocument/2006/relationships/font" Target="fonts/Inter-bold.fntdata"/><Relationship Id="rId24" Type="http://schemas.openxmlformats.org/officeDocument/2006/relationships/font" Target="fonts/MontserratExtraBold-bold.fntdata"/><Relationship Id="rId23" Type="http://schemas.openxmlformats.org/officeDocument/2006/relationships/font" Target="fonts/Inter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5" Type="http://schemas.openxmlformats.org/officeDocument/2006/relationships/font" Target="fonts/MontserratExtraBold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f9de3afdbf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g3f9de3afdbf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f9de3afdbf_1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g3f9de3afdbf_1_2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ontserrat ExtraBold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ontserrat ExtraBold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98B8F"/>
              </a:buClr>
              <a:buSzPts val="2400"/>
              <a:buNone/>
              <a:defRPr sz="2400">
                <a:solidFill>
                  <a:srgbClr val="898B8F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98B8F"/>
              </a:buClr>
              <a:buSzPts val="2000"/>
              <a:buNone/>
              <a:defRPr sz="2000">
                <a:solidFill>
                  <a:srgbClr val="898B8F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98B8F"/>
              </a:buClr>
              <a:buSzPts val="1800"/>
              <a:buNone/>
              <a:defRPr sz="1800">
                <a:solidFill>
                  <a:srgbClr val="898B8F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98B8F"/>
              </a:buClr>
              <a:buSzPts val="1600"/>
              <a:buNone/>
              <a:defRPr sz="1600">
                <a:solidFill>
                  <a:srgbClr val="898B8F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98B8F"/>
              </a:buClr>
              <a:buSzPts val="1600"/>
              <a:buNone/>
              <a:defRPr sz="1600">
                <a:solidFill>
                  <a:srgbClr val="898B8F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98B8F"/>
              </a:buClr>
              <a:buSzPts val="1600"/>
              <a:buNone/>
              <a:defRPr sz="1600">
                <a:solidFill>
                  <a:srgbClr val="898B8F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98B8F"/>
              </a:buClr>
              <a:buSzPts val="1600"/>
              <a:buNone/>
              <a:defRPr sz="1600">
                <a:solidFill>
                  <a:srgbClr val="898B8F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98B8F"/>
              </a:buClr>
              <a:buSzPts val="1600"/>
              <a:buNone/>
              <a:defRPr sz="1600">
                <a:solidFill>
                  <a:srgbClr val="898B8F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98B8F"/>
              </a:buClr>
              <a:buSzPts val="1600"/>
              <a:buNone/>
              <a:defRPr sz="1600">
                <a:solidFill>
                  <a:srgbClr val="898B8F"/>
                </a:solidFill>
              </a:defRPr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 ExtraBold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 ExtraBold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ontserrat ExtraBold"/>
              <a:buNone/>
              <a:defRPr b="0" i="0" sz="4400" u="none" cap="none" strike="noStrike">
                <a:solidFill>
                  <a:schemeClr val="dk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98B8F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98B8F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98B8F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98B8F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98B8F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98B8F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98B8F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98B8F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98B8F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98B8F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98B8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image" Target="../media/image4.png"/><Relationship Id="rId7" Type="http://schemas.openxmlformats.org/officeDocument/2006/relationships/image" Target="../media/image1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Relationship Id="rId4" Type="http://schemas.openxmlformats.org/officeDocument/2006/relationships/image" Target="../media/image10.jpg"/><Relationship Id="rId5" Type="http://schemas.openxmlformats.org/officeDocument/2006/relationships/image" Target="../media/image14.jpg"/><Relationship Id="rId6" Type="http://schemas.openxmlformats.org/officeDocument/2006/relationships/image" Target="../media/image12.jpg"/><Relationship Id="rId7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ctrTitle"/>
          </p:nvPr>
        </p:nvSpPr>
        <p:spPr>
          <a:xfrm>
            <a:off x="1524000" y="1093058"/>
            <a:ext cx="9144000" cy="126241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Montserrat ExtraBold"/>
              <a:buNone/>
            </a:pPr>
            <a:r>
              <a:rPr lang="es-MX">
                <a:solidFill>
                  <a:schemeClr val="accent1"/>
                </a:solidFill>
              </a:rPr>
              <a:t>EventApp</a:t>
            </a:r>
            <a:endParaRPr>
              <a:solidFill>
                <a:schemeClr val="accent1"/>
              </a:solidFill>
            </a:endParaRPr>
          </a:p>
        </p:txBody>
      </p:sp>
      <p:sp>
        <p:nvSpPr>
          <p:cNvPr id="85" name="Google Shape;85;p13"/>
          <p:cNvSpPr txBox="1"/>
          <p:nvPr>
            <p:ph idx="1" type="subTitle"/>
          </p:nvPr>
        </p:nvSpPr>
        <p:spPr>
          <a:xfrm>
            <a:off x="1524000" y="2447553"/>
            <a:ext cx="9144000" cy="4455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</a:pPr>
            <a:r>
              <a:rPr lang="es-MX">
                <a:solidFill>
                  <a:schemeClr val="accent1"/>
                </a:solidFill>
              </a:rPr>
              <a:t>Proyecto app móvil eventos cercanos</a:t>
            </a:r>
            <a:endParaRPr/>
          </a:p>
        </p:txBody>
      </p:sp>
      <p:grpSp>
        <p:nvGrpSpPr>
          <p:cNvPr id="86" name="Google Shape;86;p13"/>
          <p:cNvGrpSpPr/>
          <p:nvPr/>
        </p:nvGrpSpPr>
        <p:grpSpPr>
          <a:xfrm>
            <a:off x="666571" y="555477"/>
            <a:ext cx="1800000" cy="1800000"/>
            <a:chOff x="666571" y="555477"/>
            <a:chExt cx="1800000" cy="1800000"/>
          </a:xfrm>
        </p:grpSpPr>
        <p:cxnSp>
          <p:nvCxnSpPr>
            <p:cNvPr id="87" name="Google Shape;87;p13"/>
            <p:cNvCxnSpPr/>
            <p:nvPr/>
          </p:nvCxnSpPr>
          <p:spPr>
            <a:xfrm>
              <a:off x="666571" y="555477"/>
              <a:ext cx="180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88" name="Google Shape;88;p13"/>
            <p:cNvCxnSpPr/>
            <p:nvPr/>
          </p:nvCxnSpPr>
          <p:spPr>
            <a:xfrm rot="10800000">
              <a:off x="666572" y="555477"/>
              <a:ext cx="0" cy="180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89" name="Google Shape;89;p13"/>
          <p:cNvGrpSpPr/>
          <p:nvPr/>
        </p:nvGrpSpPr>
        <p:grpSpPr>
          <a:xfrm>
            <a:off x="9725428" y="4484588"/>
            <a:ext cx="1800000" cy="1800000"/>
            <a:chOff x="9801881" y="4357800"/>
            <a:chExt cx="1800000" cy="1800000"/>
          </a:xfrm>
        </p:grpSpPr>
        <p:cxnSp>
          <p:nvCxnSpPr>
            <p:cNvPr id="90" name="Google Shape;90;p13"/>
            <p:cNvCxnSpPr/>
            <p:nvPr/>
          </p:nvCxnSpPr>
          <p:spPr>
            <a:xfrm rot="5400000">
              <a:off x="10701880" y="5257800"/>
              <a:ext cx="180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1" name="Google Shape;91;p13"/>
            <p:cNvCxnSpPr/>
            <p:nvPr/>
          </p:nvCxnSpPr>
          <p:spPr>
            <a:xfrm rot="10800000">
              <a:off x="10701881" y="5257800"/>
              <a:ext cx="0" cy="180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92" name="Google Shape;92;p13"/>
          <p:cNvGrpSpPr/>
          <p:nvPr/>
        </p:nvGrpSpPr>
        <p:grpSpPr>
          <a:xfrm rot="-5400000">
            <a:off x="666571" y="4502524"/>
            <a:ext cx="1800000" cy="1800000"/>
            <a:chOff x="666571" y="555477"/>
            <a:chExt cx="1800000" cy="1800000"/>
          </a:xfrm>
        </p:grpSpPr>
        <p:cxnSp>
          <p:nvCxnSpPr>
            <p:cNvPr id="93" name="Google Shape;93;p13"/>
            <p:cNvCxnSpPr/>
            <p:nvPr/>
          </p:nvCxnSpPr>
          <p:spPr>
            <a:xfrm>
              <a:off x="666571" y="555477"/>
              <a:ext cx="180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4" name="Google Shape;94;p13"/>
            <p:cNvCxnSpPr/>
            <p:nvPr/>
          </p:nvCxnSpPr>
          <p:spPr>
            <a:xfrm rot="10800000">
              <a:off x="666572" y="555477"/>
              <a:ext cx="0" cy="180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95" name="Google Shape;95;p13"/>
          <p:cNvGrpSpPr/>
          <p:nvPr/>
        </p:nvGrpSpPr>
        <p:grpSpPr>
          <a:xfrm rot="-5400000">
            <a:off x="9725428" y="555477"/>
            <a:ext cx="1800000" cy="1800000"/>
            <a:chOff x="9801881" y="4357800"/>
            <a:chExt cx="1800000" cy="1800000"/>
          </a:xfrm>
        </p:grpSpPr>
        <p:cxnSp>
          <p:nvCxnSpPr>
            <p:cNvPr id="96" name="Google Shape;96;p13"/>
            <p:cNvCxnSpPr/>
            <p:nvPr/>
          </p:nvCxnSpPr>
          <p:spPr>
            <a:xfrm rot="5400000">
              <a:off x="10701880" y="5257800"/>
              <a:ext cx="180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7" name="Google Shape;97;p13"/>
            <p:cNvCxnSpPr/>
            <p:nvPr/>
          </p:nvCxnSpPr>
          <p:spPr>
            <a:xfrm rot="10800000">
              <a:off x="10701881" y="5257800"/>
              <a:ext cx="0" cy="180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98" name="Google Shape;98;p13"/>
          <p:cNvSpPr txBox="1"/>
          <p:nvPr/>
        </p:nvSpPr>
        <p:spPr>
          <a:xfrm>
            <a:off x="922944" y="4499484"/>
            <a:ext cx="5443669" cy="17543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MX" sz="12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Integrantes: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-"/>
            </a:pPr>
            <a:r>
              <a:rPr lang="es-MX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Benjamín Díaz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-"/>
            </a:pPr>
            <a:r>
              <a:rPr lang="es-MX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Iñaki Fernández</a:t>
            </a:r>
            <a:endParaRPr/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-"/>
            </a:pPr>
            <a:r>
              <a:rPr lang="es-MX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Benjamín Vargas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Grupo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Capstone_004D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Docente: ALDO ALBERTO MARTINEZ ORDENES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4"/>
          <p:cNvSpPr txBox="1"/>
          <p:nvPr/>
        </p:nvSpPr>
        <p:spPr>
          <a:xfrm>
            <a:off x="1546822" y="1697512"/>
            <a:ext cx="4349700" cy="501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Montserrat ExtraBold"/>
              <a:buAutoNum type="arabicPeriod"/>
            </a:pPr>
            <a:r>
              <a:rPr b="1" lang="es-MX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Contexto</a:t>
            </a:r>
            <a:endParaRPr b="1"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AutoNum type="arabicPeriod"/>
            </a:pPr>
            <a:r>
              <a:rPr b="1" lang="es-MX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Problemática</a:t>
            </a:r>
            <a:endParaRPr b="1"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Montserrat ExtraBold"/>
              <a:buAutoNum type="arabicPeriod"/>
            </a:pPr>
            <a:r>
              <a:rPr b="1" lang="es-MX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Propuesta de Solución</a:t>
            </a:r>
            <a:endParaRPr b="1"/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Montserrat ExtraBold"/>
              <a:buAutoNum type="arabicPeriod"/>
            </a:pPr>
            <a:r>
              <a:rPr b="1" lang="es-MX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Metodología</a:t>
            </a:r>
            <a:endParaRPr b="1"/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Montserrat ExtraBold"/>
              <a:buAutoNum type="arabicPeriod"/>
            </a:pPr>
            <a:r>
              <a:rPr b="1" lang="es-MX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Competencias y </a:t>
            </a:r>
            <a:r>
              <a:rPr b="1" lang="es-MX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tecnología</a:t>
            </a:r>
            <a:r>
              <a:rPr b="1" lang="es-MX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b="1"/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Montserrat ExtraBold"/>
              <a:buAutoNum type="arabicPeriod"/>
            </a:pPr>
            <a:r>
              <a:rPr b="1" lang="es-MX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Mapa Tecnológico</a:t>
            </a:r>
            <a:endParaRPr b="1"/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Montserrat ExtraBold"/>
              <a:buAutoNum type="arabicPeriod"/>
            </a:pPr>
            <a:r>
              <a:rPr b="1" lang="es-MX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Seguridad</a:t>
            </a:r>
            <a:endParaRPr b="1"/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Montserrat ExtraBold"/>
              <a:buAutoNum type="arabicPeriod"/>
            </a:pPr>
            <a:r>
              <a:rPr b="1" lang="es-MX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Riesgos</a:t>
            </a:r>
            <a:endParaRPr b="1"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AutoNum type="arabicPeriod"/>
            </a:pPr>
            <a:r>
              <a:rPr b="1" lang="es-MX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Modelo de negocio</a:t>
            </a:r>
            <a:endParaRPr b="1"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Montserrat ExtraBold"/>
              <a:buAutoNum type="arabicPeriod"/>
            </a:pPr>
            <a:r>
              <a:rPr b="1" lang="es-MX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Mockup</a:t>
            </a:r>
            <a:endParaRPr b="1"/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Montserrat ExtraBold"/>
              <a:buAutoNum type="arabicPeriod"/>
            </a:pPr>
            <a:r>
              <a:rPr b="1" lang="es-MX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Conclusión</a:t>
            </a:r>
            <a:endParaRPr b="1"/>
          </a:p>
        </p:txBody>
      </p:sp>
      <p:grpSp>
        <p:nvGrpSpPr>
          <p:cNvPr id="104" name="Google Shape;104;p14"/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05" name="Google Shape;105;p14"/>
            <p:cNvCxnSpPr/>
            <p:nvPr/>
          </p:nvCxnSpPr>
          <p:spPr>
            <a:xfrm>
              <a:off x="786213" y="521293"/>
              <a:ext cx="0" cy="54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6" name="Google Shape;106;p14"/>
            <p:cNvCxnSpPr/>
            <p:nvPr/>
          </p:nvCxnSpPr>
          <p:spPr>
            <a:xfrm>
              <a:off x="786213" y="1061293"/>
              <a:ext cx="288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07" name="Google Shape;107;p14"/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chemeClr val="accen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Índice</a:t>
            </a:r>
            <a:endParaRPr sz="1800">
              <a:solidFill>
                <a:schemeClr val="accent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Google Shape;112;p15"/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13" name="Google Shape;113;p15"/>
            <p:cNvCxnSpPr/>
            <p:nvPr/>
          </p:nvCxnSpPr>
          <p:spPr>
            <a:xfrm>
              <a:off x="786213" y="521293"/>
              <a:ext cx="0" cy="54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14" name="Google Shape;114;p15"/>
            <p:cNvCxnSpPr/>
            <p:nvPr/>
          </p:nvCxnSpPr>
          <p:spPr>
            <a:xfrm>
              <a:off x="786213" y="1061293"/>
              <a:ext cx="288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15" name="Google Shape;115;p15"/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chemeClr val="accen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Contexto</a:t>
            </a:r>
            <a:endParaRPr sz="1800">
              <a:solidFill>
                <a:schemeClr val="accent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841725" y="2305350"/>
            <a:ext cx="8881200" cy="22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s-MX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Hoy en día es cada vez más común encontrarse con eventos de todo tipo, más allá de conciertos o fiestas, también se pueden ver convenciones, ferias o distintas actividades enfocadas hacia una gran variedad de grupos.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575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Inter"/>
              <a:buChar char="•"/>
            </a:pPr>
            <a:r>
              <a:rPr lang="es-MX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Muchos de estos eventos son promocionados mediante grupos de redes sociales o páginas web especializadas. 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/>
          <p:nvPr/>
        </p:nvSpPr>
        <p:spPr>
          <a:xfrm>
            <a:off x="1031888" y="2468089"/>
            <a:ext cx="10094100" cy="255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s-MX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Buscar un panorama que se ajuste a nuestros gustos y ubicación debería ser una experiencia emocionante y rápida, no una tarea frustrante.</a:t>
            </a:r>
            <a:endParaRPr/>
          </a:p>
          <a:p>
            <a:pPr indent="-15875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575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s-MX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 información de eventos tales como ferias, conciertos o fiestas, se encuentra dispersa a lo largo de diversas fuentes y plataformas independientes.</a:t>
            </a:r>
            <a:endParaRPr/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575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</a:pPr>
            <a:r>
              <a:rPr lang="es-MX" sz="2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Los usuarios finales no cuenten con una alternativa unificada para descubrir eventos cercanos a ellos</a:t>
            </a:r>
            <a:endParaRPr sz="2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22" name="Google Shape;122;p16"/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23" name="Google Shape;123;p16"/>
            <p:cNvCxnSpPr/>
            <p:nvPr/>
          </p:nvCxnSpPr>
          <p:spPr>
            <a:xfrm>
              <a:off x="786213" y="521293"/>
              <a:ext cx="0" cy="54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4" name="Google Shape;124;p16"/>
            <p:cNvCxnSpPr/>
            <p:nvPr/>
          </p:nvCxnSpPr>
          <p:spPr>
            <a:xfrm>
              <a:off x="786213" y="1061293"/>
              <a:ext cx="288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25" name="Google Shape;125;p16"/>
          <p:cNvSpPr txBox="1"/>
          <p:nvPr/>
        </p:nvSpPr>
        <p:spPr>
          <a:xfrm>
            <a:off x="1031888" y="555724"/>
            <a:ext cx="2499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chemeClr val="accen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Problemática</a:t>
            </a:r>
            <a:endParaRPr sz="1800">
              <a:solidFill>
                <a:schemeClr val="accent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" name="Google Shape;130;p17"/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31" name="Google Shape;131;p17"/>
            <p:cNvCxnSpPr/>
            <p:nvPr/>
          </p:nvCxnSpPr>
          <p:spPr>
            <a:xfrm>
              <a:off x="786213" y="521293"/>
              <a:ext cx="0" cy="54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2" name="Google Shape;132;p17"/>
            <p:cNvCxnSpPr/>
            <p:nvPr/>
          </p:nvCxnSpPr>
          <p:spPr>
            <a:xfrm>
              <a:off x="786213" y="1061293"/>
              <a:ext cx="288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33" name="Google Shape;133;p17"/>
          <p:cNvSpPr txBox="1"/>
          <p:nvPr/>
        </p:nvSpPr>
        <p:spPr>
          <a:xfrm>
            <a:off x="1031888" y="502155"/>
            <a:ext cx="2499678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>
                <a:solidFill>
                  <a:schemeClr val="accen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Propuesta de Solución</a:t>
            </a:r>
            <a:endParaRPr sz="1600">
              <a:solidFill>
                <a:schemeClr val="accent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134" name="Google Shape;134;p17"/>
          <p:cNvGrpSpPr/>
          <p:nvPr/>
        </p:nvGrpSpPr>
        <p:grpSpPr>
          <a:xfrm>
            <a:off x="4938043" y="2017921"/>
            <a:ext cx="2315914" cy="2822157"/>
            <a:chOff x="4614725" y="502156"/>
            <a:chExt cx="2315914" cy="2822157"/>
          </a:xfrm>
        </p:grpSpPr>
        <p:sp>
          <p:nvSpPr>
            <p:cNvPr id="135" name="Google Shape;135;p17"/>
            <p:cNvSpPr/>
            <p:nvPr/>
          </p:nvSpPr>
          <p:spPr>
            <a:xfrm>
              <a:off x="4614729" y="502156"/>
              <a:ext cx="2315910" cy="523340"/>
            </a:xfrm>
            <a:prstGeom prst="rect">
              <a:avLst/>
            </a:prstGeom>
            <a:solidFill>
              <a:schemeClr val="dk1"/>
            </a:solidFill>
            <a:ln cap="flat" cmpd="sng" w="1270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MX" sz="18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Filtro Inteligente</a:t>
              </a:r>
              <a:endParaRPr/>
            </a:p>
          </p:txBody>
        </p:sp>
        <p:sp>
          <p:nvSpPr>
            <p:cNvPr id="136" name="Google Shape;136;p17"/>
            <p:cNvSpPr/>
            <p:nvPr/>
          </p:nvSpPr>
          <p:spPr>
            <a:xfrm>
              <a:off x="4614725" y="1025495"/>
              <a:ext cx="2315910" cy="2298818"/>
            </a:xfrm>
            <a:prstGeom prst="rect">
              <a:avLst/>
            </a:prstGeom>
            <a:solidFill>
              <a:schemeClr val="dk1"/>
            </a:solidFill>
            <a:ln cap="flat" cmpd="sng" w="1270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just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MX" sz="14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Los usuarios pueden buscar, filtrar y descubrir panoramas estrictamente de acuerdo a sus gustos personales (música, comida, arte) y su ubicación geográfica actual.</a:t>
              </a:r>
              <a:endParaRPr/>
            </a:p>
          </p:txBody>
        </p:sp>
      </p:grpSp>
      <p:grpSp>
        <p:nvGrpSpPr>
          <p:cNvPr id="137" name="Google Shape;137;p17"/>
          <p:cNvGrpSpPr/>
          <p:nvPr/>
        </p:nvGrpSpPr>
        <p:grpSpPr>
          <a:xfrm>
            <a:off x="1123770" y="2017921"/>
            <a:ext cx="2315914" cy="2822157"/>
            <a:chOff x="4614725" y="502156"/>
            <a:chExt cx="2315914" cy="2822157"/>
          </a:xfrm>
        </p:grpSpPr>
        <p:sp>
          <p:nvSpPr>
            <p:cNvPr id="138" name="Google Shape;138;p17"/>
            <p:cNvSpPr/>
            <p:nvPr/>
          </p:nvSpPr>
          <p:spPr>
            <a:xfrm>
              <a:off x="4614729" y="502156"/>
              <a:ext cx="2315910" cy="523340"/>
            </a:xfrm>
            <a:prstGeom prst="rect">
              <a:avLst/>
            </a:prstGeom>
            <a:solidFill>
              <a:schemeClr val="dk1"/>
            </a:solidFill>
            <a:ln cap="flat" cmpd="sng" w="1270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MX" sz="1800">
                  <a:solidFill>
                    <a:schemeClr val="lt1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Plataforma Móvil</a:t>
              </a:r>
              <a:endParaRPr sz="1800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  <p:sp>
          <p:nvSpPr>
            <p:cNvPr id="139" name="Google Shape;139;p17"/>
            <p:cNvSpPr/>
            <p:nvPr/>
          </p:nvSpPr>
          <p:spPr>
            <a:xfrm>
              <a:off x="4614725" y="1025495"/>
              <a:ext cx="2315910" cy="2298818"/>
            </a:xfrm>
            <a:prstGeom prst="rect">
              <a:avLst/>
            </a:prstGeom>
            <a:solidFill>
              <a:schemeClr val="dk1"/>
            </a:solidFill>
            <a:ln cap="flat" cmpd="sng" w="1270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just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MX" sz="14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EventApp es una aplicación móvil diseñada nativamente para ofrecer una experiencia fluida, permitiendo acceder a los panoramas desde la comodidad de un smartphone en cualquier lugar.</a:t>
              </a:r>
              <a:endParaRPr/>
            </a:p>
          </p:txBody>
        </p:sp>
      </p:grpSp>
      <p:grpSp>
        <p:nvGrpSpPr>
          <p:cNvPr id="140" name="Google Shape;140;p17"/>
          <p:cNvGrpSpPr/>
          <p:nvPr/>
        </p:nvGrpSpPr>
        <p:grpSpPr>
          <a:xfrm>
            <a:off x="8752312" y="2017921"/>
            <a:ext cx="2315914" cy="2822157"/>
            <a:chOff x="4614725" y="502156"/>
            <a:chExt cx="2315914" cy="2822157"/>
          </a:xfrm>
        </p:grpSpPr>
        <p:sp>
          <p:nvSpPr>
            <p:cNvPr id="141" name="Google Shape;141;p17"/>
            <p:cNvSpPr/>
            <p:nvPr/>
          </p:nvSpPr>
          <p:spPr>
            <a:xfrm>
              <a:off x="4614729" y="502156"/>
              <a:ext cx="2315910" cy="523340"/>
            </a:xfrm>
            <a:prstGeom prst="rect">
              <a:avLst/>
            </a:prstGeom>
            <a:solidFill>
              <a:schemeClr val="dk1"/>
            </a:solidFill>
            <a:ln cap="flat" cmpd="sng" w="1270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s-MX" sz="18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Enfoque Amplio</a:t>
              </a:r>
              <a:endParaRPr/>
            </a:p>
          </p:txBody>
        </p:sp>
        <p:sp>
          <p:nvSpPr>
            <p:cNvPr id="142" name="Google Shape;142;p17"/>
            <p:cNvSpPr/>
            <p:nvPr/>
          </p:nvSpPr>
          <p:spPr>
            <a:xfrm>
              <a:off x="4614725" y="1025495"/>
              <a:ext cx="2315910" cy="2298818"/>
            </a:xfrm>
            <a:prstGeom prst="rect">
              <a:avLst/>
            </a:prstGeom>
            <a:solidFill>
              <a:schemeClr val="dk1"/>
            </a:solidFill>
            <a:ln cap="flat" cmpd="sng" w="1270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just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MX" sz="14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Pensado para personas dinámicas a las que les gustan las ferias de todo tipo, conciertos masivos u otros panoramas al aire libre, centralizando la oferta cultural y de ocio.</a:t>
              </a: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7" name="Google Shape;147;p18"/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48" name="Google Shape;148;p18"/>
            <p:cNvCxnSpPr/>
            <p:nvPr/>
          </p:nvCxnSpPr>
          <p:spPr>
            <a:xfrm>
              <a:off x="786213" y="521293"/>
              <a:ext cx="0" cy="54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9" name="Google Shape;149;p18"/>
            <p:cNvCxnSpPr/>
            <p:nvPr/>
          </p:nvCxnSpPr>
          <p:spPr>
            <a:xfrm>
              <a:off x="786213" y="1061293"/>
              <a:ext cx="288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50" name="Google Shape;150;p18"/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chemeClr val="accen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Metodología</a:t>
            </a:r>
            <a:endParaRPr sz="1800">
              <a:solidFill>
                <a:schemeClr val="accent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aphicFrame>
        <p:nvGraphicFramePr>
          <p:cNvPr id="151" name="Google Shape;151;p18"/>
          <p:cNvGraphicFramePr/>
          <p:nvPr/>
        </p:nvGraphicFramePr>
        <p:xfrm>
          <a:off x="2514475" y="1424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{5FA3389D-E4C1-4B99-A22A-F0EB57A93792}</a:tableStyleId>
              </a:tblPr>
              <a:tblGrid>
                <a:gridCol w="2103800"/>
              </a:tblGrid>
              <a:tr h="4379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MX" sz="17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Roles Clave</a:t>
                      </a:r>
                      <a:endParaRPr b="1" sz="17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604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Director de Proyecto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392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Desarrollador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392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Analista</a:t>
                      </a:r>
                      <a:r>
                        <a:rPr lang="es-MX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de Datos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2" name="Google Shape;152;p18"/>
          <p:cNvGraphicFramePr/>
          <p:nvPr/>
        </p:nvGraphicFramePr>
        <p:xfrm>
          <a:off x="5040750" y="13851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{5FA3389D-E4C1-4B99-A22A-F0EB57A93792}</a:tableStyleId>
              </a:tblPr>
              <a:tblGrid>
                <a:gridCol w="1780950"/>
                <a:gridCol w="2501200"/>
              </a:tblGrid>
              <a:tr h="19172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MX" sz="17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Herramientas de seguimiento y repositorio</a:t>
                      </a:r>
                      <a:endParaRPr b="1" sz="17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700">
                        <a:solidFill>
                          <a:schemeClr val="lt2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</a:tbl>
          </a:graphicData>
        </a:graphic>
      </p:graphicFrame>
      <p:pic>
        <p:nvPicPr>
          <p:cNvPr id="153" name="Google Shape;15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30500" y="1424599"/>
            <a:ext cx="1651400" cy="16514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4" name="Google Shape;154;p18"/>
          <p:cNvGraphicFramePr/>
          <p:nvPr/>
        </p:nvGraphicFramePr>
        <p:xfrm>
          <a:off x="5040750" y="34169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{5FA3389D-E4C1-4B99-A22A-F0EB57A93792}</a:tableStyleId>
              </a:tblPr>
              <a:tblGrid>
                <a:gridCol w="1780950"/>
                <a:gridCol w="2501200"/>
              </a:tblGrid>
              <a:tr h="3078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MX" sz="18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Reuniones Mensuales y chat diario</a:t>
                      </a:r>
                      <a:endParaRPr b="1" sz="1700">
                        <a:solidFill>
                          <a:schemeClr val="lt2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700">
                        <a:solidFill>
                          <a:schemeClr val="lt2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</a:tbl>
          </a:graphicData>
        </a:graphic>
      </p:graphicFrame>
      <p:pic>
        <p:nvPicPr>
          <p:cNvPr id="155" name="Google Shape;155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76600" y="3480173"/>
            <a:ext cx="1476552" cy="14765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59250" y="4956730"/>
            <a:ext cx="1393901" cy="139809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7" name="Google Shape;157;p18"/>
          <p:cNvGraphicFramePr/>
          <p:nvPr/>
        </p:nvGraphicFramePr>
        <p:xfrm>
          <a:off x="2514475" y="34169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{5FA3389D-E4C1-4B99-A22A-F0EB57A93792}</a:tableStyleId>
              </a:tblPr>
              <a:tblGrid>
                <a:gridCol w="2103800"/>
              </a:tblGrid>
              <a:tr h="6402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MX" sz="17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Metodología en Cascada</a:t>
                      </a:r>
                      <a:endParaRPr b="1" sz="17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3489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Requisitos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319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Diseño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353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Desarrollo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3539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Testing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3539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Despliegue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3539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Mantenimiento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accen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2" name="Google Shape;162;p19"/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63" name="Google Shape;163;p19"/>
            <p:cNvCxnSpPr/>
            <p:nvPr/>
          </p:nvCxnSpPr>
          <p:spPr>
            <a:xfrm>
              <a:off x="786213" y="521293"/>
              <a:ext cx="0" cy="54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19"/>
            <p:cNvCxnSpPr/>
            <p:nvPr/>
          </p:nvCxnSpPr>
          <p:spPr>
            <a:xfrm>
              <a:off x="786213" y="1061293"/>
              <a:ext cx="288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65" name="Google Shape;165;p19"/>
          <p:cNvSpPr txBox="1"/>
          <p:nvPr/>
        </p:nvSpPr>
        <p:spPr>
          <a:xfrm>
            <a:off x="1031900" y="555725"/>
            <a:ext cx="3806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chemeClr val="accen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Competencias y </a:t>
            </a:r>
            <a:r>
              <a:rPr lang="es-MX" sz="1800">
                <a:solidFill>
                  <a:schemeClr val="accen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Tecnologías</a:t>
            </a:r>
            <a:endParaRPr sz="1800">
              <a:solidFill>
                <a:schemeClr val="accent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166" name="Google Shape;166;p19"/>
          <p:cNvGrpSpPr/>
          <p:nvPr/>
        </p:nvGrpSpPr>
        <p:grpSpPr>
          <a:xfrm>
            <a:off x="1706207" y="1252952"/>
            <a:ext cx="2868140" cy="2013881"/>
            <a:chOff x="4614725" y="-112310"/>
            <a:chExt cx="2316004" cy="3397808"/>
          </a:xfrm>
        </p:grpSpPr>
        <p:sp>
          <p:nvSpPr>
            <p:cNvPr id="167" name="Google Shape;167;p19"/>
            <p:cNvSpPr/>
            <p:nvPr/>
          </p:nvSpPr>
          <p:spPr>
            <a:xfrm>
              <a:off x="4614729" y="-112310"/>
              <a:ext cx="2316000" cy="523200"/>
            </a:xfrm>
            <a:prstGeom prst="rect">
              <a:avLst/>
            </a:prstGeom>
            <a:solidFill>
              <a:schemeClr val="dk1"/>
            </a:solidFill>
            <a:ln cap="flat" cmpd="sng" w="153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55275" lIns="110575" spcFirstLastPara="1" rIns="110575" wrap="square" tIns="55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MX" sz="2177">
                  <a:solidFill>
                    <a:schemeClr val="lt1"/>
                  </a:solidFill>
                  <a:latin typeface="Montserrat ExtraBold"/>
                  <a:ea typeface="Montserrat ExtraBold"/>
                  <a:cs typeface="Montserrat ExtraBold"/>
                  <a:sym typeface="Montserrat ExtraBold"/>
                </a:rPr>
                <a:t>Competencias</a:t>
              </a:r>
              <a:endParaRPr sz="2177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endParaRPr>
            </a:p>
          </p:txBody>
        </p:sp>
        <p:sp>
          <p:nvSpPr>
            <p:cNvPr id="168" name="Google Shape;168;p19"/>
            <p:cNvSpPr/>
            <p:nvPr/>
          </p:nvSpPr>
          <p:spPr>
            <a:xfrm>
              <a:off x="4614725" y="410898"/>
              <a:ext cx="2316000" cy="2874600"/>
            </a:xfrm>
            <a:prstGeom prst="rect">
              <a:avLst/>
            </a:prstGeom>
            <a:solidFill>
              <a:schemeClr val="dk1"/>
            </a:solidFill>
            <a:ln cap="flat" cmpd="sng" w="153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55275" lIns="110575" spcFirstLastPara="1" rIns="110575" wrap="square" tIns="55275">
              <a:noAutofit/>
            </a:bodyPr>
            <a:lstStyle/>
            <a:p>
              <a:pPr indent="0" lvl="0" marL="0" marR="0" rtl="0" algn="just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MX" sz="1572">
                  <a:solidFill>
                    <a:schemeClr val="lt2"/>
                  </a:solidFill>
                </a:rPr>
                <a:t>Diseñar y generar soluciones que permitan resolver los requerimientos de información, considerando bases de datos relacionales y no relacionales.</a:t>
              </a:r>
              <a:r>
                <a:rPr lang="es-MX" sz="1451">
                  <a:solidFill>
                    <a:schemeClr val="lt2"/>
                  </a:solidFill>
                </a:rPr>
                <a:t> </a:t>
              </a:r>
              <a:endParaRPr sz="1451">
                <a:solidFill>
                  <a:schemeClr val="lt2"/>
                </a:solidFill>
              </a:endParaRPr>
            </a:p>
          </p:txBody>
        </p:sp>
      </p:grpSp>
      <p:sp>
        <p:nvSpPr>
          <p:cNvPr id="169" name="Google Shape;169;p19"/>
          <p:cNvSpPr/>
          <p:nvPr/>
        </p:nvSpPr>
        <p:spPr>
          <a:xfrm>
            <a:off x="1705925" y="3203082"/>
            <a:ext cx="2868000" cy="1649700"/>
          </a:xfrm>
          <a:prstGeom prst="rect">
            <a:avLst/>
          </a:prstGeom>
          <a:solidFill>
            <a:schemeClr val="dk1"/>
          </a:solidFill>
          <a:ln cap="flat" cmpd="sng" w="153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55275" lIns="110575" spcFirstLastPara="1" rIns="110575" wrap="square" tIns="55275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572">
                <a:solidFill>
                  <a:schemeClr val="lt2"/>
                </a:solidFill>
              </a:rPr>
              <a:t>Evaluar y gestionar proyectos en su área de especialización profesional, durante todo el ciclo de vida.</a:t>
            </a:r>
            <a:endParaRPr sz="1572">
              <a:solidFill>
                <a:schemeClr val="lt2"/>
              </a:solidFill>
            </a:endParaRPr>
          </a:p>
        </p:txBody>
      </p:sp>
      <p:sp>
        <p:nvSpPr>
          <p:cNvPr id="170" name="Google Shape;170;p19"/>
          <p:cNvSpPr/>
          <p:nvPr/>
        </p:nvSpPr>
        <p:spPr>
          <a:xfrm>
            <a:off x="1705955" y="4852804"/>
            <a:ext cx="2868000" cy="1649700"/>
          </a:xfrm>
          <a:prstGeom prst="rect">
            <a:avLst/>
          </a:prstGeom>
          <a:solidFill>
            <a:schemeClr val="dk1"/>
          </a:solidFill>
          <a:ln cap="flat" cmpd="sng" w="153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55275" lIns="110575" spcFirstLastPara="1" rIns="110575" wrap="square" tIns="55275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572">
                <a:solidFill>
                  <a:schemeClr val="lt2"/>
                </a:solidFill>
              </a:rPr>
              <a:t>Desarrollar proyectos de software innovadores para plataformas y dispositivos móviles. </a:t>
            </a:r>
            <a:endParaRPr sz="1572">
              <a:solidFill>
                <a:schemeClr val="lt2"/>
              </a:solidFill>
            </a:endParaRPr>
          </a:p>
        </p:txBody>
      </p:sp>
      <p:sp>
        <p:nvSpPr>
          <p:cNvPr id="171" name="Google Shape;171;p19"/>
          <p:cNvSpPr/>
          <p:nvPr/>
        </p:nvSpPr>
        <p:spPr>
          <a:xfrm>
            <a:off x="4574104" y="1252950"/>
            <a:ext cx="5324400" cy="284100"/>
          </a:xfrm>
          <a:prstGeom prst="rect">
            <a:avLst/>
          </a:prstGeom>
          <a:solidFill>
            <a:schemeClr val="dk1"/>
          </a:solidFill>
          <a:ln cap="flat" cmpd="sng" w="153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55275" lIns="110575" spcFirstLastPara="1" rIns="110575" wrap="square" tIns="55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177">
                <a:solidFill>
                  <a:schemeClr val="l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Tecnologías/Herramientas</a:t>
            </a:r>
            <a:endParaRPr sz="2177">
              <a:solidFill>
                <a:schemeClr val="lt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72" name="Google Shape;172;p19"/>
          <p:cNvSpPr/>
          <p:nvPr/>
        </p:nvSpPr>
        <p:spPr>
          <a:xfrm>
            <a:off x="4574104" y="1537034"/>
            <a:ext cx="5324400" cy="4965600"/>
          </a:xfrm>
          <a:prstGeom prst="rect">
            <a:avLst/>
          </a:prstGeom>
          <a:solidFill>
            <a:schemeClr val="dk1"/>
          </a:solidFill>
          <a:ln cap="flat" cmpd="sng" w="153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55275" lIns="110575" spcFirstLastPara="1" rIns="110575" wrap="square" tIns="55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93"/>
          </a:p>
        </p:txBody>
      </p:sp>
      <p:sp>
        <p:nvSpPr>
          <p:cNvPr id="173" name="Google Shape;173;p19"/>
          <p:cNvSpPr txBox="1"/>
          <p:nvPr/>
        </p:nvSpPr>
        <p:spPr>
          <a:xfrm>
            <a:off x="4915081" y="5299839"/>
            <a:ext cx="2235900" cy="8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55275" lIns="110575" spcFirstLastPara="1" rIns="110575" wrap="square" tIns="55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MX" sz="2419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rPr>
              <a:t>Metodología</a:t>
            </a:r>
            <a:endParaRPr sz="1693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MX" sz="2419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rPr>
              <a:t>Cascada</a:t>
            </a:r>
            <a:endParaRPr b="1" sz="2419">
              <a:solidFill>
                <a:schemeClr val="accen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74" name="Google Shape;17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36770" y="3738991"/>
            <a:ext cx="1193452" cy="1193452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9"/>
          <p:cNvSpPr txBox="1"/>
          <p:nvPr/>
        </p:nvSpPr>
        <p:spPr>
          <a:xfrm>
            <a:off x="7653105" y="5299853"/>
            <a:ext cx="1973700" cy="8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55275" lIns="110575" spcFirstLastPara="1" rIns="110575" wrap="square" tIns="55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MX" sz="2419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rPr>
              <a:t>Web</a:t>
            </a:r>
            <a:endParaRPr sz="1693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MX" sz="2419"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rPr>
              <a:t>Scraping</a:t>
            </a:r>
            <a:endParaRPr b="1" sz="2419">
              <a:solidFill>
                <a:schemeClr val="accen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PostgreSQL - Wikipedia, la enciclopedia libre" id="176" name="Google Shape;176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754173" y="1752686"/>
            <a:ext cx="1586185" cy="163694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rchivo:Google-flutter-logo.png - Wikipedia, la enciclopedia libre" id="177" name="Google Shape;177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15080" y="3738984"/>
            <a:ext cx="3013596" cy="86012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File:Python-logo-notext.svg - Wikimedia Commons" id="178" name="Google Shape;178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70867" y="1778071"/>
            <a:ext cx="1586184" cy="1586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8387569" y="1813152"/>
            <a:ext cx="1428321" cy="16497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4" name="Google Shape;184;p20"/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85" name="Google Shape;185;p20"/>
            <p:cNvCxnSpPr/>
            <p:nvPr/>
          </p:nvCxnSpPr>
          <p:spPr>
            <a:xfrm>
              <a:off x="786213" y="521293"/>
              <a:ext cx="0" cy="54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20"/>
            <p:cNvCxnSpPr/>
            <p:nvPr/>
          </p:nvCxnSpPr>
          <p:spPr>
            <a:xfrm>
              <a:off x="786213" y="1061293"/>
              <a:ext cx="288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87" name="Google Shape;187;p20"/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chemeClr val="accen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Mapa Tecnológico</a:t>
            </a:r>
            <a:endParaRPr sz="1800">
              <a:solidFill>
                <a:schemeClr val="accent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pic>
        <p:nvPicPr>
          <p:cNvPr id="188" name="Google Shape;18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18101" y="1248805"/>
            <a:ext cx="7955798" cy="53687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1"/>
          <p:cNvSpPr txBox="1"/>
          <p:nvPr/>
        </p:nvSpPr>
        <p:spPr>
          <a:xfrm>
            <a:off x="841727" y="2136449"/>
            <a:ext cx="6840900" cy="34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lang="es-MX"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Protección Robusta:</a:t>
            </a:r>
            <a:r>
              <a:rPr lang="es-MX"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Transmisión de datos cifrada con altos estándares de la industria.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lang="es-MX"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Gobernanza de Datos:</a:t>
            </a:r>
            <a:r>
              <a:rPr lang="es-MX"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Control total sobre la información mediante roles y permisos de acceso estrictos.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1" lang="es-MX"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Continuidad del Negocio:</a:t>
            </a:r>
            <a:r>
              <a:rPr lang="es-MX"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Copias de seguridad automáticas y cumplimiento normativo vigente.</a:t>
            </a:r>
            <a:endParaRPr sz="1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"/>
              <a:buChar char="•"/>
            </a:pPr>
            <a:r>
              <a:rPr b="1" lang="es-MX"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Permisos de Usuario: </a:t>
            </a:r>
            <a:r>
              <a:rPr lang="es-MX"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Solicitar el consentimiento del usuario para acceder a su ubicación al momento de usar el mapa.</a:t>
            </a:r>
            <a:endParaRPr sz="1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94" name="Google Shape;194;p21"/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195" name="Google Shape;195;p21"/>
            <p:cNvCxnSpPr/>
            <p:nvPr/>
          </p:nvCxnSpPr>
          <p:spPr>
            <a:xfrm>
              <a:off x="786213" y="521293"/>
              <a:ext cx="0" cy="54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21"/>
            <p:cNvCxnSpPr/>
            <p:nvPr/>
          </p:nvCxnSpPr>
          <p:spPr>
            <a:xfrm>
              <a:off x="786213" y="1061293"/>
              <a:ext cx="288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7" name="Google Shape;197;p21"/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chemeClr val="accen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Seguridad</a:t>
            </a:r>
            <a:endParaRPr sz="1800">
              <a:solidFill>
                <a:schemeClr val="accent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2"/>
          <p:cNvSpPr txBox="1"/>
          <p:nvPr/>
        </p:nvSpPr>
        <p:spPr>
          <a:xfrm>
            <a:off x="841727" y="1820254"/>
            <a:ext cx="6755484" cy="37831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s-MX"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Scope creep.</a:t>
            </a:r>
            <a:endParaRPr/>
          </a:p>
          <a:p>
            <a:pPr indent="-1714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57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s-MX"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Retraso en hitos y entregas importantes.</a:t>
            </a:r>
            <a:endParaRPr/>
          </a:p>
          <a:p>
            <a:pPr indent="-1714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57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s-MX"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Disponibilidad del equipo de trabajo.</a:t>
            </a:r>
            <a:endParaRPr/>
          </a:p>
          <a:p>
            <a:pPr indent="-1714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57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s-MX"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Poca aceptación de los usuarios.</a:t>
            </a:r>
            <a:endParaRPr/>
          </a:p>
          <a:p>
            <a:pPr indent="-1714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5750" lvl="0" marL="2857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lang="es-MX" sz="1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Problemas técnicos en la fase de desarrollo</a:t>
            </a:r>
            <a:endParaRPr sz="1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203" name="Google Shape;203;p22"/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204" name="Google Shape;204;p22"/>
            <p:cNvCxnSpPr/>
            <p:nvPr/>
          </p:nvCxnSpPr>
          <p:spPr>
            <a:xfrm>
              <a:off x="786213" y="521293"/>
              <a:ext cx="0" cy="54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22"/>
            <p:cNvCxnSpPr/>
            <p:nvPr/>
          </p:nvCxnSpPr>
          <p:spPr>
            <a:xfrm>
              <a:off x="786213" y="1061293"/>
              <a:ext cx="288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06" name="Google Shape;206;p22"/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chemeClr val="accen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Riesgos</a:t>
            </a:r>
            <a:endParaRPr sz="1800">
              <a:solidFill>
                <a:schemeClr val="accent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1" name="Google Shape;211;p23"/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212" name="Google Shape;212;p23"/>
            <p:cNvCxnSpPr/>
            <p:nvPr/>
          </p:nvCxnSpPr>
          <p:spPr>
            <a:xfrm>
              <a:off x="786213" y="521293"/>
              <a:ext cx="0" cy="54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23"/>
            <p:cNvCxnSpPr/>
            <p:nvPr/>
          </p:nvCxnSpPr>
          <p:spPr>
            <a:xfrm>
              <a:off x="786213" y="1061293"/>
              <a:ext cx="288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14" name="Google Shape;214;p23"/>
          <p:cNvSpPr txBox="1"/>
          <p:nvPr/>
        </p:nvSpPr>
        <p:spPr>
          <a:xfrm>
            <a:off x="1031902" y="555725"/>
            <a:ext cx="3017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chemeClr val="accen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Módelo de negocio</a:t>
            </a:r>
            <a:endParaRPr sz="1800">
              <a:solidFill>
                <a:schemeClr val="accent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215" name="Google Shape;215;p23"/>
          <p:cNvSpPr/>
          <p:nvPr/>
        </p:nvSpPr>
        <p:spPr>
          <a:xfrm>
            <a:off x="841725" y="1596200"/>
            <a:ext cx="1863300" cy="3355800"/>
          </a:xfrm>
          <a:prstGeom prst="rect">
            <a:avLst/>
          </a:prstGeom>
          <a:solidFill>
            <a:schemeClr val="dk1"/>
          </a:solidFill>
          <a:ln cap="flat" cmpd="sng" w="153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55275" lIns="110575" spcFirstLastPara="1" rIns="110575" wrap="square" tIns="55275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s-MX" sz="105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Socios clave:</a:t>
            </a:r>
            <a:r>
              <a:rPr lang="es-MX" sz="1572">
                <a:solidFill>
                  <a:schemeClr val="lt2"/>
                </a:solidFill>
              </a:rPr>
              <a:t>	</a:t>
            </a:r>
            <a:endParaRPr sz="1572">
              <a:solidFill>
                <a:schemeClr val="lt2"/>
              </a:solidFill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72">
              <a:solidFill>
                <a:schemeClr val="lt2"/>
              </a:solidFill>
            </a:endParaRPr>
          </a:p>
          <a:p>
            <a:pPr indent="-2984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Char char="●"/>
            </a:pPr>
            <a:r>
              <a:rPr lang="es-MX" sz="1100">
                <a:solidFill>
                  <a:schemeClr val="lt2"/>
                </a:solidFill>
              </a:rPr>
              <a:t>Boleterías</a:t>
            </a:r>
            <a:r>
              <a:rPr lang="es-MX" sz="1100">
                <a:solidFill>
                  <a:schemeClr val="lt2"/>
                </a:solidFill>
              </a:rPr>
              <a:t> online.</a:t>
            </a:r>
            <a:endParaRPr sz="1100">
              <a:solidFill>
                <a:schemeClr val="lt2"/>
              </a:solidFill>
            </a:endParaRPr>
          </a:p>
          <a:p>
            <a:pPr indent="-2984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Char char="●"/>
            </a:pPr>
            <a:r>
              <a:rPr lang="es-MX" sz="1100">
                <a:solidFill>
                  <a:schemeClr val="lt2"/>
                </a:solidFill>
              </a:rPr>
              <a:t>Productoras.</a:t>
            </a:r>
            <a:endParaRPr sz="1100">
              <a:solidFill>
                <a:schemeClr val="lt2"/>
              </a:solidFill>
            </a:endParaRPr>
          </a:p>
          <a:p>
            <a:pPr indent="-2984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Char char="●"/>
            </a:pPr>
            <a:r>
              <a:rPr lang="es-MX" sz="1100">
                <a:solidFill>
                  <a:schemeClr val="lt2"/>
                </a:solidFill>
              </a:rPr>
              <a:t>Instituciones.</a:t>
            </a:r>
            <a:endParaRPr sz="1100">
              <a:solidFill>
                <a:schemeClr val="lt2"/>
              </a:solidFill>
            </a:endParaRPr>
          </a:p>
          <a:p>
            <a:pPr indent="-2984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Char char="●"/>
            </a:pPr>
            <a:r>
              <a:rPr lang="es-MX" sz="1100">
                <a:solidFill>
                  <a:schemeClr val="lt2"/>
                </a:solidFill>
              </a:rPr>
              <a:t>Municipalidades.</a:t>
            </a:r>
            <a:endParaRPr sz="1100">
              <a:solidFill>
                <a:schemeClr val="lt2"/>
              </a:solidFill>
            </a:endParaRPr>
          </a:p>
          <a:p>
            <a:pPr indent="-2984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Char char="●"/>
            </a:pPr>
            <a:r>
              <a:rPr lang="es-MX" sz="1100">
                <a:solidFill>
                  <a:schemeClr val="lt2"/>
                </a:solidFill>
              </a:rPr>
              <a:t>Usuarios particulares.</a:t>
            </a:r>
            <a:endParaRPr sz="1100">
              <a:solidFill>
                <a:schemeClr val="lt2"/>
              </a:solidFill>
            </a:endParaRPr>
          </a:p>
        </p:txBody>
      </p:sp>
      <p:sp>
        <p:nvSpPr>
          <p:cNvPr id="216" name="Google Shape;216;p23"/>
          <p:cNvSpPr/>
          <p:nvPr/>
        </p:nvSpPr>
        <p:spPr>
          <a:xfrm>
            <a:off x="841725" y="5008550"/>
            <a:ext cx="5254200" cy="1649700"/>
          </a:xfrm>
          <a:prstGeom prst="rect">
            <a:avLst/>
          </a:prstGeom>
          <a:solidFill>
            <a:schemeClr val="dk1"/>
          </a:solidFill>
          <a:ln cap="flat" cmpd="sng" w="153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55275" lIns="110575" spcFirstLastPara="1" rIns="110575" wrap="square" tIns="55275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s-MX" sz="105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Estructura de costos:</a:t>
            </a:r>
            <a:endParaRPr b="1" sz="105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</a:pPr>
            <a:r>
              <a:rPr b="1" lang="es-MX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Tarifa de tiendas de aplicaciones</a:t>
            </a:r>
            <a:endParaRPr b="1"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</a:pPr>
            <a:r>
              <a:rPr b="1" lang="es-MX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Mantención de Servidores</a:t>
            </a:r>
            <a:endParaRPr b="1"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</a:pPr>
            <a:r>
              <a:rPr b="1" lang="es-MX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Servicios </a:t>
            </a:r>
            <a:r>
              <a:rPr b="1" lang="es-MX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básicos</a:t>
            </a:r>
            <a:endParaRPr b="1"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7" name="Google Shape;217;p23"/>
          <p:cNvSpPr/>
          <p:nvPr/>
        </p:nvSpPr>
        <p:spPr>
          <a:xfrm>
            <a:off x="2824277" y="1596200"/>
            <a:ext cx="1614300" cy="1649700"/>
          </a:xfrm>
          <a:prstGeom prst="rect">
            <a:avLst/>
          </a:prstGeom>
          <a:solidFill>
            <a:schemeClr val="dk1"/>
          </a:solidFill>
          <a:ln cap="flat" cmpd="sng" w="153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55275" lIns="110575" spcFirstLastPara="1" rIns="110575" wrap="square" tIns="55275">
            <a:no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MX" sz="1072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Actividades clave:</a:t>
            </a:r>
            <a:endParaRPr b="1" sz="1072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72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57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Inter"/>
              <a:buChar char="●"/>
            </a:pPr>
            <a:r>
              <a:rPr lang="es-MX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Procesar datos.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57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Inter"/>
              <a:buChar char="●"/>
            </a:pPr>
            <a:r>
              <a:rPr lang="es-MX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Desarrollar actualizaciones.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575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Inter"/>
              <a:buChar char="●"/>
            </a:pPr>
            <a:r>
              <a:rPr lang="es-MX" sz="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Brindar soporte.</a:t>
            </a:r>
            <a:endParaRPr sz="9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8" name="Google Shape;218;p23"/>
          <p:cNvSpPr/>
          <p:nvPr/>
        </p:nvSpPr>
        <p:spPr>
          <a:xfrm>
            <a:off x="4557875" y="1596200"/>
            <a:ext cx="3017400" cy="3355800"/>
          </a:xfrm>
          <a:prstGeom prst="rect">
            <a:avLst/>
          </a:prstGeom>
          <a:solidFill>
            <a:schemeClr val="dk1"/>
          </a:solidFill>
          <a:ln cap="flat" cmpd="sng" w="153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55275" lIns="110575" spcFirstLastPara="1" rIns="110575" wrap="square" tIns="55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MX" sz="109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Propuesta de valor: </a:t>
            </a:r>
            <a:r>
              <a:rPr lang="es-MX" sz="109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	</a:t>
            </a:r>
            <a:endParaRPr sz="1093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93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09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Una aplicación que muestra de forma visual los panoramas, eventos u otros que se encuentren cerca del usuario.</a:t>
            </a:r>
            <a:endParaRPr sz="1093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93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093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Unificar eventos de todo tipo en una aplicación móvil permitiendo filtrar según los intereses del usuario.</a:t>
            </a:r>
            <a:endParaRPr sz="1093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9" name="Google Shape;219;p23"/>
          <p:cNvSpPr/>
          <p:nvPr/>
        </p:nvSpPr>
        <p:spPr>
          <a:xfrm>
            <a:off x="2824300" y="3347150"/>
            <a:ext cx="1614300" cy="1605000"/>
          </a:xfrm>
          <a:prstGeom prst="rect">
            <a:avLst/>
          </a:prstGeom>
          <a:solidFill>
            <a:schemeClr val="dk1"/>
          </a:solidFill>
          <a:ln cap="flat" cmpd="sng" w="153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55275" lIns="110575" spcFirstLastPara="1" rIns="110575" wrap="square" tIns="55275">
            <a:noAutofit/>
          </a:bodyPr>
          <a:lstStyle/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MX" sz="1072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Recursos clave:</a:t>
            </a:r>
            <a:endParaRPr b="1" sz="1072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</a:pPr>
            <a:r>
              <a:rPr lang="es-MX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Equipo de desarrollo.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</a:pPr>
            <a:r>
              <a:rPr lang="es-MX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Licencias varias.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</a:pPr>
            <a:r>
              <a:rPr lang="es-MX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Servidores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0" name="Google Shape;220;p23"/>
          <p:cNvSpPr/>
          <p:nvPr/>
        </p:nvSpPr>
        <p:spPr>
          <a:xfrm>
            <a:off x="9454125" y="1596200"/>
            <a:ext cx="1962000" cy="3355800"/>
          </a:xfrm>
          <a:prstGeom prst="rect">
            <a:avLst/>
          </a:prstGeom>
          <a:solidFill>
            <a:schemeClr val="dk1"/>
          </a:solidFill>
          <a:ln cap="flat" cmpd="sng" w="153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55275" lIns="110575" spcFirstLastPara="1" rIns="110575" wrap="square" tIns="55275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s-MX" sz="1050">
                <a:solidFill>
                  <a:schemeClr val="lt1"/>
                </a:solidFill>
              </a:rPr>
              <a:t>Segmentos de clientes: </a:t>
            </a:r>
            <a:endParaRPr sz="1050">
              <a:solidFill>
                <a:schemeClr val="lt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lt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050">
                <a:solidFill>
                  <a:schemeClr val="lt1"/>
                </a:solidFill>
              </a:rPr>
              <a:t>Personas en busca de panoramas cerca de su ubicación.</a:t>
            </a:r>
            <a:endParaRPr sz="1050">
              <a:solidFill>
                <a:schemeClr val="lt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lt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050">
                <a:solidFill>
                  <a:schemeClr val="lt1"/>
                </a:solidFill>
              </a:rPr>
              <a:t>Personas que busquen eventos relacionados a sus intereses.</a:t>
            </a:r>
            <a:endParaRPr sz="1050">
              <a:solidFill>
                <a:schemeClr val="lt1"/>
              </a:solidFill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050">
                <a:solidFill>
                  <a:schemeClr val="lt1"/>
                </a:solidFill>
              </a:rPr>
              <a:t>	</a:t>
            </a:r>
            <a:endParaRPr sz="1050">
              <a:solidFill>
                <a:schemeClr val="lt1"/>
              </a:solidFill>
            </a:endParaRPr>
          </a:p>
        </p:txBody>
      </p:sp>
      <p:sp>
        <p:nvSpPr>
          <p:cNvPr id="221" name="Google Shape;221;p23"/>
          <p:cNvSpPr/>
          <p:nvPr/>
        </p:nvSpPr>
        <p:spPr>
          <a:xfrm>
            <a:off x="6161925" y="5008550"/>
            <a:ext cx="5254200" cy="1649700"/>
          </a:xfrm>
          <a:prstGeom prst="rect">
            <a:avLst/>
          </a:prstGeom>
          <a:solidFill>
            <a:schemeClr val="dk1"/>
          </a:solidFill>
          <a:ln cap="flat" cmpd="sng" w="153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55275" lIns="110575" spcFirstLastPara="1" rIns="110575" wrap="square" tIns="55275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s-MX" sz="105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Fuente de ingresos:</a:t>
            </a:r>
            <a:endParaRPr b="1" sz="105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</a:pPr>
            <a:r>
              <a:rPr b="1" lang="es-MX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Anuncios integrados en la app.</a:t>
            </a:r>
            <a:endParaRPr b="1"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</a:pPr>
            <a:r>
              <a:rPr b="1" lang="es-MX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Planes “PRO”.</a:t>
            </a:r>
            <a:endParaRPr b="1"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</a:pPr>
            <a:r>
              <a:rPr b="1" lang="es-MX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Opción</a:t>
            </a:r>
            <a:r>
              <a:rPr b="1" lang="es-MX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de pago para promocionar eventos.</a:t>
            </a:r>
            <a:endParaRPr b="1"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</a:pPr>
            <a:r>
              <a:rPr b="1" lang="es-MX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Convenios con otras empresas.</a:t>
            </a:r>
            <a:endParaRPr b="1"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2" name="Google Shape;222;p23"/>
          <p:cNvSpPr/>
          <p:nvPr/>
        </p:nvSpPr>
        <p:spPr>
          <a:xfrm>
            <a:off x="7694550" y="3324725"/>
            <a:ext cx="1614300" cy="1605000"/>
          </a:xfrm>
          <a:prstGeom prst="rect">
            <a:avLst/>
          </a:prstGeom>
          <a:solidFill>
            <a:schemeClr val="dk1"/>
          </a:solidFill>
          <a:ln cap="flat" cmpd="sng" w="153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55275" lIns="110575" spcFirstLastPara="1" rIns="110575" wrap="square" tIns="55275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s-MX" sz="105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Canales:</a:t>
            </a:r>
            <a:endParaRPr b="1" sz="105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5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5275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Font typeface="Inter"/>
              <a:buChar char="●"/>
            </a:pPr>
            <a:r>
              <a:rPr lang="es-MX" sz="105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Play Store</a:t>
            </a:r>
            <a:endParaRPr sz="105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5275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Font typeface="Inter"/>
              <a:buChar char="●"/>
            </a:pPr>
            <a:r>
              <a:rPr lang="es-MX" sz="105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App Store</a:t>
            </a:r>
            <a:endParaRPr sz="105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5275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50"/>
              <a:buFont typeface="Inter"/>
              <a:buChar char="●"/>
            </a:pPr>
            <a:r>
              <a:rPr lang="es-MX" sz="105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Redes Sociales</a:t>
            </a:r>
            <a:endParaRPr sz="105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3" name="Google Shape;223;p23"/>
          <p:cNvSpPr/>
          <p:nvPr/>
        </p:nvSpPr>
        <p:spPr>
          <a:xfrm>
            <a:off x="7707552" y="1596200"/>
            <a:ext cx="1614300" cy="1649700"/>
          </a:xfrm>
          <a:prstGeom prst="rect">
            <a:avLst/>
          </a:prstGeom>
          <a:solidFill>
            <a:schemeClr val="dk1"/>
          </a:solidFill>
          <a:ln cap="flat" cmpd="sng" w="15350">
            <a:solidFill>
              <a:schemeClr val="accent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55275" lIns="110575" spcFirstLastPara="1" rIns="110575" wrap="square" tIns="55275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es-MX" sz="1072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Relaciones con el cliente:</a:t>
            </a:r>
            <a:endParaRPr b="1" sz="1072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72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6685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2"/>
              <a:buFont typeface="Inter"/>
              <a:buChar char="●"/>
            </a:pPr>
            <a:r>
              <a:rPr lang="es-MX" sz="1072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Soporte de errores</a:t>
            </a:r>
            <a:endParaRPr sz="1072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6685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2"/>
              <a:buFont typeface="Inter"/>
              <a:buChar char="●"/>
            </a:pPr>
            <a:r>
              <a:rPr lang="es-MX" sz="1072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Número de contacto</a:t>
            </a:r>
            <a:endParaRPr sz="1072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6685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72"/>
              <a:buFont typeface="Inter"/>
              <a:buChar char="●"/>
            </a:pPr>
            <a:r>
              <a:rPr lang="es-MX" sz="1072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Correo </a:t>
            </a:r>
            <a:r>
              <a:rPr lang="es-MX" sz="1072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electrónico</a:t>
            </a:r>
            <a:r>
              <a:rPr lang="es-MX" sz="1072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1072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Google Shape;228;p24"/>
          <p:cNvGrpSpPr/>
          <p:nvPr/>
        </p:nvGrpSpPr>
        <p:grpSpPr>
          <a:xfrm>
            <a:off x="841727" y="546930"/>
            <a:ext cx="2880000" cy="540000"/>
            <a:chOff x="786213" y="521293"/>
            <a:chExt cx="2880000" cy="540000"/>
          </a:xfrm>
        </p:grpSpPr>
        <p:cxnSp>
          <p:nvCxnSpPr>
            <p:cNvPr id="229" name="Google Shape;229;p24"/>
            <p:cNvCxnSpPr/>
            <p:nvPr/>
          </p:nvCxnSpPr>
          <p:spPr>
            <a:xfrm>
              <a:off x="786213" y="521293"/>
              <a:ext cx="0" cy="54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0" name="Google Shape;230;p24"/>
            <p:cNvCxnSpPr/>
            <p:nvPr/>
          </p:nvCxnSpPr>
          <p:spPr>
            <a:xfrm>
              <a:off x="786213" y="1061293"/>
              <a:ext cx="288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31" name="Google Shape;231;p24"/>
          <p:cNvSpPr txBox="1"/>
          <p:nvPr/>
        </p:nvSpPr>
        <p:spPr>
          <a:xfrm>
            <a:off x="1031888" y="555724"/>
            <a:ext cx="249967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>
                <a:solidFill>
                  <a:schemeClr val="accent1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Mockup</a:t>
            </a:r>
            <a:endParaRPr sz="1800">
              <a:solidFill>
                <a:schemeClr val="accent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232" name="Google Shape;232;p24"/>
          <p:cNvGrpSpPr/>
          <p:nvPr/>
        </p:nvGrpSpPr>
        <p:grpSpPr>
          <a:xfrm>
            <a:off x="310676" y="1738690"/>
            <a:ext cx="11570648" cy="4032380"/>
            <a:chOff x="90484" y="1480628"/>
            <a:chExt cx="11570648" cy="4032380"/>
          </a:xfrm>
        </p:grpSpPr>
        <p:pic>
          <p:nvPicPr>
            <p:cNvPr id="233" name="Google Shape;233;p2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90484" y="1559288"/>
              <a:ext cx="2057170" cy="395372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4" name="Google Shape;234;p2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2496212" y="1559288"/>
              <a:ext cx="2070708" cy="394420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5" name="Google Shape;235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4915478" y="1493200"/>
              <a:ext cx="2005146" cy="399772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6" name="Google Shape;236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7263731" y="1512056"/>
              <a:ext cx="2024004" cy="39788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7" name="Google Shape;237;p24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9630842" y="1480628"/>
              <a:ext cx="2030290" cy="4010292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5"/>
          <p:cNvSpPr txBox="1"/>
          <p:nvPr>
            <p:ph type="ctrTitle"/>
          </p:nvPr>
        </p:nvSpPr>
        <p:spPr>
          <a:xfrm>
            <a:off x="1524000" y="2915774"/>
            <a:ext cx="9144000" cy="102645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Montserrat ExtraBold"/>
              <a:buNone/>
            </a:pPr>
            <a:r>
              <a:rPr lang="es-MX" u="sng">
                <a:solidFill>
                  <a:schemeClr val="accent1"/>
                </a:solidFill>
              </a:rPr>
              <a:t>Conclusión</a:t>
            </a:r>
            <a:endParaRPr u="sng">
              <a:solidFill>
                <a:schemeClr val="accent1"/>
              </a:solidFill>
            </a:endParaRPr>
          </a:p>
        </p:txBody>
      </p:sp>
      <p:grpSp>
        <p:nvGrpSpPr>
          <p:cNvPr id="243" name="Google Shape;243;p25"/>
          <p:cNvGrpSpPr/>
          <p:nvPr/>
        </p:nvGrpSpPr>
        <p:grpSpPr>
          <a:xfrm>
            <a:off x="666571" y="555477"/>
            <a:ext cx="1800000" cy="1800000"/>
            <a:chOff x="666571" y="555477"/>
            <a:chExt cx="1800000" cy="1800000"/>
          </a:xfrm>
        </p:grpSpPr>
        <p:cxnSp>
          <p:nvCxnSpPr>
            <p:cNvPr id="244" name="Google Shape;244;p25"/>
            <p:cNvCxnSpPr/>
            <p:nvPr/>
          </p:nvCxnSpPr>
          <p:spPr>
            <a:xfrm>
              <a:off x="666571" y="555477"/>
              <a:ext cx="180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5" name="Google Shape;245;p25"/>
            <p:cNvCxnSpPr/>
            <p:nvPr/>
          </p:nvCxnSpPr>
          <p:spPr>
            <a:xfrm rot="10800000">
              <a:off x="666572" y="555477"/>
              <a:ext cx="0" cy="180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46" name="Google Shape;246;p25"/>
          <p:cNvGrpSpPr/>
          <p:nvPr/>
        </p:nvGrpSpPr>
        <p:grpSpPr>
          <a:xfrm>
            <a:off x="9725428" y="4484588"/>
            <a:ext cx="1800000" cy="1800000"/>
            <a:chOff x="9801881" y="4357800"/>
            <a:chExt cx="1800000" cy="1800000"/>
          </a:xfrm>
        </p:grpSpPr>
        <p:cxnSp>
          <p:nvCxnSpPr>
            <p:cNvPr id="247" name="Google Shape;247;p25"/>
            <p:cNvCxnSpPr/>
            <p:nvPr/>
          </p:nvCxnSpPr>
          <p:spPr>
            <a:xfrm rot="5400000">
              <a:off x="10701880" y="5257800"/>
              <a:ext cx="180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8" name="Google Shape;248;p25"/>
            <p:cNvCxnSpPr/>
            <p:nvPr/>
          </p:nvCxnSpPr>
          <p:spPr>
            <a:xfrm rot="10800000">
              <a:off x="10701881" y="5257800"/>
              <a:ext cx="0" cy="180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49" name="Google Shape;249;p25"/>
          <p:cNvGrpSpPr/>
          <p:nvPr/>
        </p:nvGrpSpPr>
        <p:grpSpPr>
          <a:xfrm rot="-5400000">
            <a:off x="666571" y="4502524"/>
            <a:ext cx="1800000" cy="1800000"/>
            <a:chOff x="666571" y="555477"/>
            <a:chExt cx="1800000" cy="1800000"/>
          </a:xfrm>
        </p:grpSpPr>
        <p:cxnSp>
          <p:nvCxnSpPr>
            <p:cNvPr id="250" name="Google Shape;250;p25"/>
            <p:cNvCxnSpPr/>
            <p:nvPr/>
          </p:nvCxnSpPr>
          <p:spPr>
            <a:xfrm>
              <a:off x="666571" y="555477"/>
              <a:ext cx="180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1" name="Google Shape;251;p25"/>
            <p:cNvCxnSpPr/>
            <p:nvPr/>
          </p:nvCxnSpPr>
          <p:spPr>
            <a:xfrm rot="10800000">
              <a:off x="666572" y="555477"/>
              <a:ext cx="0" cy="180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52" name="Google Shape;252;p25"/>
          <p:cNvGrpSpPr/>
          <p:nvPr/>
        </p:nvGrpSpPr>
        <p:grpSpPr>
          <a:xfrm rot="-5400000">
            <a:off x="9725428" y="555477"/>
            <a:ext cx="1800000" cy="1800000"/>
            <a:chOff x="9801881" y="4357800"/>
            <a:chExt cx="1800000" cy="1800000"/>
          </a:xfrm>
        </p:grpSpPr>
        <p:cxnSp>
          <p:nvCxnSpPr>
            <p:cNvPr id="253" name="Google Shape;253;p25"/>
            <p:cNvCxnSpPr/>
            <p:nvPr/>
          </p:nvCxnSpPr>
          <p:spPr>
            <a:xfrm rot="5400000">
              <a:off x="10701880" y="5257800"/>
              <a:ext cx="1800000" cy="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4" name="Google Shape;254;p25"/>
            <p:cNvCxnSpPr/>
            <p:nvPr/>
          </p:nvCxnSpPr>
          <p:spPr>
            <a:xfrm rot="10800000">
              <a:off x="10701881" y="5257800"/>
              <a:ext cx="0" cy="1800000"/>
            </a:xfrm>
            <a:prstGeom prst="straightConnector1">
              <a:avLst/>
            </a:prstGeom>
            <a:noFill/>
            <a:ln cap="flat" cmpd="sng" w="19050">
              <a:solidFill>
                <a:schemeClr val="accent2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Personalizado 1">
      <a:dk1>
        <a:srgbClr val="1E293B"/>
      </a:dk1>
      <a:lt1>
        <a:srgbClr val="E2E8F0"/>
      </a:lt1>
      <a:dk2>
        <a:srgbClr val="0F172A"/>
      </a:dk2>
      <a:lt2>
        <a:srgbClr val="FFFFFF"/>
      </a:lt2>
      <a:accent1>
        <a:srgbClr val="EAB308"/>
      </a:accent1>
      <a:accent2>
        <a:srgbClr val="CA8A04"/>
      </a:accent2>
      <a:accent3>
        <a:srgbClr val="64748B"/>
      </a:accent3>
      <a:accent4>
        <a:srgbClr val="38BDF8"/>
      </a:accent4>
      <a:accent5>
        <a:srgbClr val="10B981"/>
      </a:accent5>
      <a:accent6>
        <a:srgbClr val="94A3B8"/>
      </a:accent6>
      <a:hlink>
        <a:srgbClr val="F59E0B"/>
      </a:hlink>
      <a:folHlink>
        <a:srgbClr val="94A3B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