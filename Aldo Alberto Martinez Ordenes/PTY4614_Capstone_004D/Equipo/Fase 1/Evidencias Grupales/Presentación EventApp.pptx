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8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55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0B7FF-D76F-4ECF-8C7E-07DA33D5058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592EF-B817-C8A8-4841-A8D610CF2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3058"/>
            <a:ext cx="9144000" cy="1262419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EventApp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C61372-7B9D-1E1B-81D7-564274B7B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47553"/>
            <a:ext cx="9144000" cy="445502"/>
          </a:xfrm>
        </p:spPr>
        <p:txBody>
          <a:bodyPr/>
          <a:lstStyle/>
          <a:p>
            <a:r>
              <a:rPr lang="es-CL" dirty="0">
                <a:solidFill>
                  <a:schemeClr val="accent1"/>
                </a:solidFill>
              </a:rPr>
              <a:t>Proyecto app móvil eventos cercanos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FB4B7FCB-A4F3-4DF9-AB0A-26F1828AC149}"/>
              </a:ext>
            </a:extLst>
          </p:cNvPr>
          <p:cNvGrpSpPr/>
          <p:nvPr/>
        </p:nvGrpSpPr>
        <p:grpSpPr>
          <a:xfrm>
            <a:off x="666571" y="555477"/>
            <a:ext cx="1800000" cy="1800000"/>
            <a:chOff x="666571" y="555477"/>
            <a:chExt cx="1800000" cy="1800000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C32053E4-1E34-5A27-000B-A34B7F05649D}"/>
                </a:ext>
              </a:extLst>
            </p:cNvPr>
            <p:cNvCxnSpPr/>
            <p:nvPr/>
          </p:nvCxnSpPr>
          <p:spPr>
            <a:xfrm>
              <a:off x="666571" y="555477"/>
              <a:ext cx="1800000" cy="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E9C5BED2-62C6-076D-1867-74C5505AE2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572" y="555477"/>
              <a:ext cx="0" cy="180000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9B926922-FF30-067E-92E2-6AB244B38C5A}"/>
              </a:ext>
            </a:extLst>
          </p:cNvPr>
          <p:cNvGrpSpPr/>
          <p:nvPr/>
        </p:nvGrpSpPr>
        <p:grpSpPr>
          <a:xfrm>
            <a:off x="9725428" y="4484588"/>
            <a:ext cx="1800000" cy="1800000"/>
            <a:chOff x="9801881" y="4357800"/>
            <a:chExt cx="1800000" cy="1800000"/>
          </a:xfrm>
        </p:grpSpPr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098261D1-C218-1F92-3CB2-22EEB3F84E0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01880" y="5257800"/>
              <a:ext cx="1800000" cy="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40FAEB57-50A1-69FD-624B-507DBF00A7B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0701881" y="5257800"/>
              <a:ext cx="0" cy="180000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7F496A9-631D-20CA-6F82-5995D31640D0}"/>
              </a:ext>
            </a:extLst>
          </p:cNvPr>
          <p:cNvGrpSpPr/>
          <p:nvPr/>
        </p:nvGrpSpPr>
        <p:grpSpPr>
          <a:xfrm rot="16200000">
            <a:off x="666571" y="4502524"/>
            <a:ext cx="1800000" cy="1800000"/>
            <a:chOff x="666571" y="555477"/>
            <a:chExt cx="1800000" cy="1800000"/>
          </a:xfrm>
        </p:grpSpPr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11ABC198-CD94-393C-B711-21C246B47C35}"/>
                </a:ext>
              </a:extLst>
            </p:cNvPr>
            <p:cNvCxnSpPr/>
            <p:nvPr/>
          </p:nvCxnSpPr>
          <p:spPr>
            <a:xfrm>
              <a:off x="666571" y="555477"/>
              <a:ext cx="1800000" cy="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40AA491F-F2BE-A3B5-923C-493A334D2E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572" y="555477"/>
              <a:ext cx="0" cy="180000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EC4ED6A2-A125-9CEA-233B-F6C1632B2E1B}"/>
              </a:ext>
            </a:extLst>
          </p:cNvPr>
          <p:cNvGrpSpPr/>
          <p:nvPr/>
        </p:nvGrpSpPr>
        <p:grpSpPr>
          <a:xfrm rot="16200000">
            <a:off x="9725428" y="555477"/>
            <a:ext cx="1800000" cy="1800000"/>
            <a:chOff x="9801881" y="4357800"/>
            <a:chExt cx="1800000" cy="1800000"/>
          </a:xfrm>
        </p:grpSpPr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9481B8D4-6E58-0759-830B-548219FEE6E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01880" y="5257800"/>
              <a:ext cx="1800000" cy="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625E2573-6E88-8EE9-A7B5-37B3C028E5A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0701881" y="5257800"/>
              <a:ext cx="0" cy="180000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829C1F1E-759E-FA34-3C5B-F9C8AFAAC381}"/>
              </a:ext>
            </a:extLst>
          </p:cNvPr>
          <p:cNvSpPr txBox="1"/>
          <p:nvPr/>
        </p:nvSpPr>
        <p:spPr>
          <a:xfrm>
            <a:off x="922944" y="4499484"/>
            <a:ext cx="5443669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MX" sz="1200" dirty="0">
                <a:solidFill>
                  <a:schemeClr val="bg1"/>
                </a:solidFill>
              </a:rPr>
              <a:t>Integrantes:</a:t>
            </a:r>
          </a:p>
          <a:p>
            <a:pPr marL="285750" indent="-285750">
              <a:buFontTx/>
              <a:buChar char="-"/>
            </a:pPr>
            <a:r>
              <a:rPr lang="es-MX" sz="1200" dirty="0">
                <a:solidFill>
                  <a:schemeClr val="bg1"/>
                </a:solidFill>
              </a:rPr>
              <a:t>Benjamín Díaz</a:t>
            </a:r>
          </a:p>
          <a:p>
            <a:pPr marL="285750" indent="-285750">
              <a:buFontTx/>
              <a:buChar char="-"/>
            </a:pPr>
            <a:r>
              <a:rPr lang="es-MX" sz="1200" dirty="0">
                <a:solidFill>
                  <a:schemeClr val="bg1"/>
                </a:solidFill>
              </a:rPr>
              <a:t>Iñaki Fernández</a:t>
            </a:r>
          </a:p>
          <a:p>
            <a:pPr marL="285750" indent="-285750">
              <a:buFontTx/>
              <a:buChar char="-"/>
            </a:pPr>
            <a:r>
              <a:rPr lang="es-MX" sz="1200" dirty="0">
                <a:solidFill>
                  <a:schemeClr val="bg1"/>
                </a:solidFill>
              </a:rPr>
              <a:t>Benjamín Vargas</a:t>
            </a:r>
          </a:p>
          <a:p>
            <a:endParaRPr lang="es-MX" sz="1200" dirty="0">
              <a:solidFill>
                <a:schemeClr val="bg1"/>
              </a:solidFill>
            </a:endParaRPr>
          </a:p>
          <a:p>
            <a:r>
              <a:rPr lang="es-MX" sz="1200" dirty="0">
                <a:solidFill>
                  <a:schemeClr val="bg1"/>
                </a:solidFill>
              </a:rPr>
              <a:t>Grupo 1</a:t>
            </a:r>
          </a:p>
          <a:p>
            <a:r>
              <a:rPr lang="es-MX" sz="1200" dirty="0">
                <a:solidFill>
                  <a:schemeClr val="bg1"/>
                </a:solidFill>
              </a:rPr>
              <a:t>Capstone_004D</a:t>
            </a:r>
          </a:p>
          <a:p>
            <a:r>
              <a:rPr lang="es-MX" sz="1200" dirty="0">
                <a:solidFill>
                  <a:schemeClr val="bg1"/>
                </a:solidFill>
              </a:rPr>
              <a:t>Docente: </a:t>
            </a:r>
            <a:r>
              <a:rPr lang="es-CL" sz="1200" dirty="0">
                <a:solidFill>
                  <a:schemeClr val="bg1"/>
                </a:solidFill>
              </a:rPr>
              <a:t>ALDO ALBERTO MARTINEZ ORDENES</a:t>
            </a:r>
          </a:p>
          <a:p>
            <a:endParaRPr lang="es-C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653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AB065-85DD-F646-9E86-C9DE488BE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5098137-8859-EE9A-E402-E6FF0831DBFB}"/>
              </a:ext>
            </a:extLst>
          </p:cNvPr>
          <p:cNvSpPr txBox="1"/>
          <p:nvPr/>
        </p:nvSpPr>
        <p:spPr>
          <a:xfrm>
            <a:off x="1546822" y="1697512"/>
            <a:ext cx="4349810" cy="419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sz="2000" dirty="0">
                <a:solidFill>
                  <a:schemeClr val="bg1"/>
                </a:solidFill>
              </a:rPr>
              <a:t>Contexto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sz="2000" dirty="0">
                <a:solidFill>
                  <a:schemeClr val="bg1"/>
                </a:solidFill>
              </a:rPr>
              <a:t>Propuesta de Solución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sz="2000" dirty="0">
                <a:solidFill>
                  <a:schemeClr val="bg1"/>
                </a:solidFill>
              </a:rPr>
              <a:t>Metodología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sz="2000" dirty="0">
                <a:solidFill>
                  <a:schemeClr val="bg1"/>
                </a:solidFill>
              </a:rPr>
              <a:t>Competencias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sz="2000" dirty="0">
                <a:solidFill>
                  <a:schemeClr val="bg1"/>
                </a:solidFill>
              </a:rPr>
              <a:t>Mapa Tecnológico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sz="2000" dirty="0">
                <a:solidFill>
                  <a:schemeClr val="bg1"/>
                </a:solidFill>
              </a:rPr>
              <a:t>Seguridad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sz="2000" dirty="0">
                <a:solidFill>
                  <a:schemeClr val="bg1"/>
                </a:solidFill>
              </a:rPr>
              <a:t>Riesgos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sz="2000" dirty="0">
                <a:solidFill>
                  <a:schemeClr val="bg1"/>
                </a:solidFill>
              </a:rPr>
              <a:t>Mockup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sz="2000" dirty="0">
                <a:solidFill>
                  <a:schemeClr val="bg1"/>
                </a:solidFill>
              </a:rPr>
              <a:t>Conclusión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95F60431-8AF3-D415-569D-826FF6D52E86}"/>
              </a:ext>
            </a:extLst>
          </p:cNvPr>
          <p:cNvGrpSpPr/>
          <p:nvPr/>
        </p:nvGrpSpPr>
        <p:grpSpPr>
          <a:xfrm>
            <a:off x="841727" y="546930"/>
            <a:ext cx="2880000" cy="540000"/>
            <a:chOff x="786213" y="521293"/>
            <a:chExt cx="2880000" cy="540000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F6F51E4A-3A5A-4079-2EBE-20C9105D2D80}"/>
                </a:ext>
              </a:extLst>
            </p:cNvPr>
            <p:cNvCxnSpPr/>
            <p:nvPr/>
          </p:nvCxnSpPr>
          <p:spPr>
            <a:xfrm>
              <a:off x="786213" y="521293"/>
              <a:ext cx="0" cy="54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94E33B50-1631-00C4-6261-53E793C4115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13" y="1061293"/>
              <a:ext cx="288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A52EA291-9314-4C35-B185-5C79AD8F90D0}"/>
              </a:ext>
            </a:extLst>
          </p:cNvPr>
          <p:cNvSpPr txBox="1"/>
          <p:nvPr/>
        </p:nvSpPr>
        <p:spPr>
          <a:xfrm>
            <a:off x="1031888" y="555724"/>
            <a:ext cx="249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+mj-lt"/>
              </a:rPr>
              <a:t>Índice</a:t>
            </a:r>
            <a:endParaRPr lang="es-CL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86011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F4975-DFC2-D02F-2A97-E72D711A3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B17338B-5EE1-F749-CA29-F1D22EEA30B2}"/>
              </a:ext>
            </a:extLst>
          </p:cNvPr>
          <p:cNvSpPr txBox="1"/>
          <p:nvPr/>
        </p:nvSpPr>
        <p:spPr>
          <a:xfrm>
            <a:off x="1031888" y="2468089"/>
            <a:ext cx="100941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000" dirty="0">
                <a:solidFill>
                  <a:schemeClr val="bg1"/>
                </a:solidFill>
              </a:rPr>
              <a:t>Buscar un panorama que se ajuste a nuestros gustos y ubicación debería ser una experiencia emocionante y rápida, no una tarea frustrante.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CL" sz="2000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000" dirty="0">
                <a:solidFill>
                  <a:schemeClr val="bg1"/>
                </a:solidFill>
              </a:rPr>
              <a:t>La información de eventos tales como ferias, conciertos o fiestas, se encuentra dispersa a lo largo de diversas fuentes y plataformas independientes.</a:t>
            </a:r>
          </a:p>
          <a:p>
            <a:pPr algn="just">
              <a:lnSpc>
                <a:spcPct val="100000"/>
              </a:lnSpc>
            </a:pPr>
            <a:endParaRPr lang="es-CL" sz="2000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000" dirty="0">
                <a:solidFill>
                  <a:schemeClr val="bg1"/>
                </a:solidFill>
              </a:rPr>
              <a:t>Los usuarios finales no cuenten con una alternativa unificada para descubrir eventos cercanos a ellos</a:t>
            </a:r>
            <a:endParaRPr lang="es-MX" sz="2000" dirty="0">
              <a:solidFill>
                <a:schemeClr val="bg1"/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5C8FF24F-ED2A-D29B-A973-3EC44F40C6D1}"/>
              </a:ext>
            </a:extLst>
          </p:cNvPr>
          <p:cNvGrpSpPr/>
          <p:nvPr/>
        </p:nvGrpSpPr>
        <p:grpSpPr>
          <a:xfrm>
            <a:off x="841727" y="546930"/>
            <a:ext cx="2880000" cy="540000"/>
            <a:chOff x="786213" y="521293"/>
            <a:chExt cx="2880000" cy="540000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342D5717-BBB0-CF11-590A-003FE266605C}"/>
                </a:ext>
              </a:extLst>
            </p:cNvPr>
            <p:cNvCxnSpPr/>
            <p:nvPr/>
          </p:nvCxnSpPr>
          <p:spPr>
            <a:xfrm>
              <a:off x="786213" y="521293"/>
              <a:ext cx="0" cy="54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A0DEC0E9-F1D5-3768-FB58-F5BC888C1FB1}"/>
                </a:ext>
              </a:extLst>
            </p:cNvPr>
            <p:cNvCxnSpPr>
              <a:cxnSpLocks/>
            </p:cNvCxnSpPr>
            <p:nvPr/>
          </p:nvCxnSpPr>
          <p:spPr>
            <a:xfrm>
              <a:off x="786213" y="1061293"/>
              <a:ext cx="288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64E35F60-58EC-4476-3022-CC7708FB2D4C}"/>
              </a:ext>
            </a:extLst>
          </p:cNvPr>
          <p:cNvSpPr txBox="1"/>
          <p:nvPr/>
        </p:nvSpPr>
        <p:spPr>
          <a:xfrm>
            <a:off x="1031888" y="555724"/>
            <a:ext cx="249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+mj-lt"/>
              </a:rPr>
              <a:t>Contexto</a:t>
            </a:r>
            <a:endParaRPr lang="es-CL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564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D3DAA-EC76-4D2B-7B14-F9F33C673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CC8ED33D-819C-93A4-DA16-43A4C22921CC}"/>
              </a:ext>
            </a:extLst>
          </p:cNvPr>
          <p:cNvGrpSpPr/>
          <p:nvPr/>
        </p:nvGrpSpPr>
        <p:grpSpPr>
          <a:xfrm>
            <a:off x="841727" y="546930"/>
            <a:ext cx="2880000" cy="540000"/>
            <a:chOff x="786213" y="521293"/>
            <a:chExt cx="2880000" cy="540000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7D52BC26-EB38-21B4-CCEB-9E3D3CB9C4D1}"/>
                </a:ext>
              </a:extLst>
            </p:cNvPr>
            <p:cNvCxnSpPr/>
            <p:nvPr/>
          </p:nvCxnSpPr>
          <p:spPr>
            <a:xfrm>
              <a:off x="786213" y="521293"/>
              <a:ext cx="0" cy="54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9C98B482-3BB1-743C-8030-D11588CAA0AF}"/>
                </a:ext>
              </a:extLst>
            </p:cNvPr>
            <p:cNvCxnSpPr>
              <a:cxnSpLocks/>
            </p:cNvCxnSpPr>
            <p:nvPr/>
          </p:nvCxnSpPr>
          <p:spPr>
            <a:xfrm>
              <a:off x="786213" y="1061293"/>
              <a:ext cx="288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D6D4D9EB-CC89-7E64-F89B-39FF7E7490AF}"/>
              </a:ext>
            </a:extLst>
          </p:cNvPr>
          <p:cNvSpPr txBox="1"/>
          <p:nvPr/>
        </p:nvSpPr>
        <p:spPr>
          <a:xfrm>
            <a:off x="1031888" y="502155"/>
            <a:ext cx="249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accent1"/>
                </a:solidFill>
                <a:latin typeface="+mj-lt"/>
              </a:rPr>
              <a:t>Propuesta de Solución</a:t>
            </a:r>
            <a:endParaRPr lang="es-CL" sz="1600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D1BB0CDD-4F69-5DB7-33FF-08B03D5F2ECD}"/>
              </a:ext>
            </a:extLst>
          </p:cNvPr>
          <p:cNvGrpSpPr/>
          <p:nvPr/>
        </p:nvGrpSpPr>
        <p:grpSpPr>
          <a:xfrm>
            <a:off x="4938043" y="2017921"/>
            <a:ext cx="2315914" cy="2822157"/>
            <a:chOff x="4614725" y="502156"/>
            <a:chExt cx="2315914" cy="2822157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D89E9F14-CACD-7A39-D842-D37D936FCAF4}"/>
                </a:ext>
              </a:extLst>
            </p:cNvPr>
            <p:cNvSpPr/>
            <p:nvPr/>
          </p:nvSpPr>
          <p:spPr>
            <a:xfrm>
              <a:off x="4614729" y="502156"/>
              <a:ext cx="2315910" cy="5233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b="1" dirty="0"/>
                <a:t>Filtro Inteligente</a:t>
              </a: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39DDFAFB-479B-3B52-7BEB-DB4A8E082A6F}"/>
                </a:ext>
              </a:extLst>
            </p:cNvPr>
            <p:cNvSpPr/>
            <p:nvPr/>
          </p:nvSpPr>
          <p:spPr>
            <a:xfrm>
              <a:off x="4614725" y="1025495"/>
              <a:ext cx="2315910" cy="229881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s-CL" sz="1400" dirty="0"/>
                <a:t>Los usuarios pueden buscar, filtrar y descubrir panoramas estrictamente de acuerdo a sus gustos personales (música, comida, arte) y su ubicación geográfica actual.</a:t>
              </a: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2DAB8B7C-2D3C-13CB-6D1B-68CCFE272EDE}"/>
              </a:ext>
            </a:extLst>
          </p:cNvPr>
          <p:cNvGrpSpPr/>
          <p:nvPr/>
        </p:nvGrpSpPr>
        <p:grpSpPr>
          <a:xfrm>
            <a:off x="1123770" y="2017921"/>
            <a:ext cx="2315914" cy="2822157"/>
            <a:chOff x="4614725" y="502156"/>
            <a:chExt cx="2315914" cy="2822157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A105AC6F-F22A-3932-213C-25B5DCEF0A05}"/>
                </a:ext>
              </a:extLst>
            </p:cNvPr>
            <p:cNvSpPr/>
            <p:nvPr/>
          </p:nvSpPr>
          <p:spPr>
            <a:xfrm>
              <a:off x="4614729" y="502156"/>
              <a:ext cx="2315910" cy="5233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latin typeface="+mj-lt"/>
                </a:rPr>
                <a:t>Plataforma Móvil</a:t>
              </a:r>
              <a:endParaRPr lang="es-CL" dirty="0">
                <a:latin typeface="+mj-lt"/>
              </a:endParaRP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BE241FE4-0D29-B7B2-EB53-852BF0C82FE2}"/>
                </a:ext>
              </a:extLst>
            </p:cNvPr>
            <p:cNvSpPr/>
            <p:nvPr/>
          </p:nvSpPr>
          <p:spPr>
            <a:xfrm>
              <a:off x="4614725" y="1025495"/>
              <a:ext cx="2315910" cy="229881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s-CL" sz="1400" dirty="0" err="1"/>
                <a:t>EventApp</a:t>
              </a:r>
              <a:r>
                <a:rPr lang="es-CL" sz="1400" dirty="0"/>
                <a:t> es una aplicación móvil diseñada nativamente para ofrecer una experiencia fluida, permitiendo acceder a los panoramas desde la comodidad de un smartphone en cualquier lugar.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348C607-4E4E-ACC0-B13E-85388AF06E12}"/>
              </a:ext>
            </a:extLst>
          </p:cNvPr>
          <p:cNvGrpSpPr/>
          <p:nvPr/>
        </p:nvGrpSpPr>
        <p:grpSpPr>
          <a:xfrm>
            <a:off x="8752312" y="2017921"/>
            <a:ext cx="2315914" cy="2822157"/>
            <a:chOff x="4614725" y="502156"/>
            <a:chExt cx="2315914" cy="2822157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B5E74A45-B93D-3E46-F588-FECC74B8ECF5}"/>
                </a:ext>
              </a:extLst>
            </p:cNvPr>
            <p:cNvSpPr/>
            <p:nvPr/>
          </p:nvSpPr>
          <p:spPr>
            <a:xfrm>
              <a:off x="4614729" y="502156"/>
              <a:ext cx="2315910" cy="5233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b="1" dirty="0"/>
                <a:t>Enfoque Amplio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A83C34A2-B908-0A37-246B-FF2477BD2E58}"/>
                </a:ext>
              </a:extLst>
            </p:cNvPr>
            <p:cNvSpPr/>
            <p:nvPr/>
          </p:nvSpPr>
          <p:spPr>
            <a:xfrm>
              <a:off x="4614725" y="1025495"/>
              <a:ext cx="2315910" cy="229881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s-CL" sz="1400" dirty="0"/>
                <a:t>Pensado para personas dinámicas a las que les gustan las ferias de todo tipo, conciertos masivos u otros panoramas al aire libre, centralizando la oferta cultural y de ocio.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353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D6CAD-235E-3CA4-EC68-0B31B775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1C796F1-C09E-5B89-AEDB-EB3778C6A5CA}"/>
              </a:ext>
            </a:extLst>
          </p:cNvPr>
          <p:cNvSpPr txBox="1"/>
          <p:nvPr/>
        </p:nvSpPr>
        <p:spPr>
          <a:xfrm>
            <a:off x="841727" y="2205588"/>
            <a:ext cx="8203963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bg1"/>
                </a:solidFill>
              </a:rPr>
              <a:t>Uso de metodología en cascada con 5 fases definidas.</a:t>
            </a:r>
          </a:p>
          <a:p>
            <a:pPr algn="just">
              <a:lnSpc>
                <a:spcPct val="100000"/>
              </a:lnSpc>
            </a:pPr>
            <a:endParaRPr lang="es-CL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b="1" dirty="0">
                <a:solidFill>
                  <a:schemeClr val="bg1"/>
                </a:solidFill>
              </a:rPr>
              <a:t>Roles Clave:</a:t>
            </a:r>
            <a:r>
              <a:rPr lang="es-CL" dirty="0">
                <a:solidFill>
                  <a:schemeClr val="bg1"/>
                </a:solidFill>
              </a:rPr>
              <a:t> Director de Proyecto, Desarrollador y Analista de datos.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CL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bg1"/>
                </a:solidFill>
              </a:rPr>
              <a:t>Reuniones Mensuales por videollamada y chat diario para dudas rápidas.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CL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bg1"/>
                </a:solidFill>
              </a:rPr>
              <a:t>Uso de herramientas de seguimiento y repositorio.</a:t>
            </a:r>
            <a:endParaRPr lang="es-MX" dirty="0">
              <a:solidFill>
                <a:schemeClr val="bg1"/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5C1E000F-0678-BC9F-4398-D81B154A439A}"/>
              </a:ext>
            </a:extLst>
          </p:cNvPr>
          <p:cNvGrpSpPr/>
          <p:nvPr/>
        </p:nvGrpSpPr>
        <p:grpSpPr>
          <a:xfrm>
            <a:off x="841727" y="546930"/>
            <a:ext cx="2880000" cy="540000"/>
            <a:chOff x="786213" y="521293"/>
            <a:chExt cx="2880000" cy="540000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D9573E72-B276-4BA2-9D40-8675310FC4D5}"/>
                </a:ext>
              </a:extLst>
            </p:cNvPr>
            <p:cNvCxnSpPr/>
            <p:nvPr/>
          </p:nvCxnSpPr>
          <p:spPr>
            <a:xfrm>
              <a:off x="786213" y="521293"/>
              <a:ext cx="0" cy="54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349EC342-CD37-A9A2-E12C-585B612FF5B3}"/>
                </a:ext>
              </a:extLst>
            </p:cNvPr>
            <p:cNvCxnSpPr>
              <a:cxnSpLocks/>
            </p:cNvCxnSpPr>
            <p:nvPr/>
          </p:nvCxnSpPr>
          <p:spPr>
            <a:xfrm>
              <a:off x="786213" y="1061293"/>
              <a:ext cx="288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5F98089D-1DC2-36E4-88CE-13C5D75EAD87}"/>
              </a:ext>
            </a:extLst>
          </p:cNvPr>
          <p:cNvSpPr txBox="1"/>
          <p:nvPr/>
        </p:nvSpPr>
        <p:spPr>
          <a:xfrm>
            <a:off x="1031888" y="555724"/>
            <a:ext cx="249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+mj-lt"/>
              </a:rPr>
              <a:t>Metodología</a:t>
            </a:r>
            <a:endParaRPr lang="es-CL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20977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2160D9-8295-011B-597F-3A87A890C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4DB2700E-45E4-6FDE-1D9D-5AC6ED6413E6}"/>
              </a:ext>
            </a:extLst>
          </p:cNvPr>
          <p:cNvGrpSpPr/>
          <p:nvPr/>
        </p:nvGrpSpPr>
        <p:grpSpPr>
          <a:xfrm>
            <a:off x="841727" y="546930"/>
            <a:ext cx="2880000" cy="540000"/>
            <a:chOff x="786213" y="521293"/>
            <a:chExt cx="2880000" cy="540000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98F212AB-BE6D-2040-D0AF-EF970EAECC80}"/>
                </a:ext>
              </a:extLst>
            </p:cNvPr>
            <p:cNvCxnSpPr/>
            <p:nvPr/>
          </p:nvCxnSpPr>
          <p:spPr>
            <a:xfrm>
              <a:off x="786213" y="521293"/>
              <a:ext cx="0" cy="54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C09DBE1A-D8C5-F3C3-62C9-C6BEB1634FEB}"/>
                </a:ext>
              </a:extLst>
            </p:cNvPr>
            <p:cNvCxnSpPr>
              <a:cxnSpLocks/>
            </p:cNvCxnSpPr>
            <p:nvPr/>
          </p:nvCxnSpPr>
          <p:spPr>
            <a:xfrm>
              <a:off x="786213" y="1061293"/>
              <a:ext cx="288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9F5FCEBF-155E-D8F4-D197-74B481C86AD5}"/>
              </a:ext>
            </a:extLst>
          </p:cNvPr>
          <p:cNvSpPr txBox="1"/>
          <p:nvPr/>
        </p:nvSpPr>
        <p:spPr>
          <a:xfrm>
            <a:off x="1031888" y="555724"/>
            <a:ext cx="249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+mj-lt"/>
              </a:rPr>
              <a:t>Competencias</a:t>
            </a:r>
            <a:endParaRPr lang="es-CL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452BF41-8C98-BA3E-E7B0-0B2E38801DDB}"/>
              </a:ext>
            </a:extLst>
          </p:cNvPr>
          <p:cNvSpPr txBox="1"/>
          <p:nvPr/>
        </p:nvSpPr>
        <p:spPr>
          <a:xfrm>
            <a:off x="2007192" y="2298589"/>
            <a:ext cx="18489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solidFill>
                  <a:schemeClr val="accent2"/>
                </a:solidFill>
              </a:rPr>
              <a:t>Metodología</a:t>
            </a:r>
          </a:p>
          <a:p>
            <a:pPr algn="ctr"/>
            <a:r>
              <a:rPr lang="es-MX" sz="2000" b="1" dirty="0">
                <a:solidFill>
                  <a:schemeClr val="accent2"/>
                </a:solidFill>
              </a:rPr>
              <a:t>Cascada</a:t>
            </a:r>
            <a:endParaRPr lang="es-CL" sz="2000" b="1" dirty="0">
              <a:solidFill>
                <a:schemeClr val="accent2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3630CB3-1539-00F2-A02F-2A54A7CDF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475" y="3536750"/>
            <a:ext cx="1478424" cy="147842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EE98074-70CE-687D-4AB9-66492895BCDC}"/>
              </a:ext>
            </a:extLst>
          </p:cNvPr>
          <p:cNvSpPr txBox="1"/>
          <p:nvPr/>
        </p:nvSpPr>
        <p:spPr>
          <a:xfrm>
            <a:off x="7707488" y="2298589"/>
            <a:ext cx="2477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solidFill>
                  <a:schemeClr val="accent2"/>
                </a:solidFill>
              </a:rPr>
              <a:t>Web</a:t>
            </a:r>
          </a:p>
          <a:p>
            <a:pPr algn="ctr"/>
            <a:r>
              <a:rPr lang="es-MX" sz="2000" b="1" dirty="0">
                <a:solidFill>
                  <a:schemeClr val="accent2"/>
                </a:solidFill>
              </a:rPr>
              <a:t>Scraping</a:t>
            </a:r>
            <a:endParaRPr lang="es-CL" sz="2000" b="1" dirty="0">
              <a:solidFill>
                <a:schemeClr val="accent2"/>
              </a:solidFill>
            </a:endParaRPr>
          </a:p>
        </p:txBody>
      </p:sp>
      <p:pic>
        <p:nvPicPr>
          <p:cNvPr id="15" name="Imagen 14" descr="PostgreSQL - Wikipedia, la enciclopedia libre">
            <a:extLst>
              <a:ext uri="{FF2B5EF4-FFF2-40B4-BE49-F238E27FC236}">
                <a16:creationId xmlns:a16="http://schemas.microsoft.com/office/drawing/2014/main" id="{2064077E-CC8B-B432-C085-BE8D20A65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218" y="1975765"/>
            <a:ext cx="1311564" cy="1353534"/>
          </a:xfrm>
          <a:prstGeom prst="rect">
            <a:avLst/>
          </a:prstGeom>
        </p:spPr>
      </p:pic>
      <p:pic>
        <p:nvPicPr>
          <p:cNvPr id="16" name="Imagen 15" descr="Archivo:Google-flutter-logo.png - Wikipedia, la enciclopedia libre">
            <a:extLst>
              <a:ext uri="{FF2B5EF4-FFF2-40B4-BE49-F238E27FC236}">
                <a16:creationId xmlns:a16="http://schemas.microsoft.com/office/drawing/2014/main" id="{218AB787-DCB9-CF46-2A42-166BE8289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966" y="3920794"/>
            <a:ext cx="2491842" cy="711208"/>
          </a:xfrm>
          <a:prstGeom prst="rect">
            <a:avLst/>
          </a:prstGeom>
        </p:spPr>
      </p:pic>
      <p:pic>
        <p:nvPicPr>
          <p:cNvPr id="17" name="Imagen 16" descr="File:Python-logo-notext.svg - Wikimedia Commons">
            <a:extLst>
              <a:ext uri="{FF2B5EF4-FFF2-40B4-BE49-F238E27FC236}">
                <a16:creationId xmlns:a16="http://schemas.microsoft.com/office/drawing/2014/main" id="{DE24F697-3CC8-65DD-BD57-C4819752D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218" y="3620180"/>
            <a:ext cx="1311564" cy="131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36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CFD79-8C0A-30E0-792B-9C272D21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0D85F9DF-2EF3-DAE1-E3A7-3F4F4AE92497}"/>
              </a:ext>
            </a:extLst>
          </p:cNvPr>
          <p:cNvGrpSpPr/>
          <p:nvPr/>
        </p:nvGrpSpPr>
        <p:grpSpPr>
          <a:xfrm>
            <a:off x="841727" y="546930"/>
            <a:ext cx="2880000" cy="540000"/>
            <a:chOff x="786213" y="521293"/>
            <a:chExt cx="2880000" cy="540000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CB262ADA-C51A-7298-5621-D873B149376F}"/>
                </a:ext>
              </a:extLst>
            </p:cNvPr>
            <p:cNvCxnSpPr/>
            <p:nvPr/>
          </p:nvCxnSpPr>
          <p:spPr>
            <a:xfrm>
              <a:off x="786213" y="521293"/>
              <a:ext cx="0" cy="54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85370F90-7081-CD74-CA6A-C6B073C1B8D7}"/>
                </a:ext>
              </a:extLst>
            </p:cNvPr>
            <p:cNvCxnSpPr>
              <a:cxnSpLocks/>
            </p:cNvCxnSpPr>
            <p:nvPr/>
          </p:nvCxnSpPr>
          <p:spPr>
            <a:xfrm>
              <a:off x="786213" y="1061293"/>
              <a:ext cx="288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22D0628D-42D3-54A8-AC5D-97348A5BF44D}"/>
              </a:ext>
            </a:extLst>
          </p:cNvPr>
          <p:cNvSpPr txBox="1"/>
          <p:nvPr/>
        </p:nvSpPr>
        <p:spPr>
          <a:xfrm>
            <a:off x="1031888" y="555724"/>
            <a:ext cx="249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+mj-lt"/>
              </a:rPr>
              <a:t>Mapa Tecnológico</a:t>
            </a:r>
            <a:endParaRPr lang="es-CL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19BD85-C15F-8378-B13D-39EDCC66C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101" y="1248805"/>
            <a:ext cx="7955798" cy="536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26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74F52-F80C-9A7A-5152-D89A5F37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AA918F1-82FF-B5D1-5CE9-308B16E55A6B}"/>
              </a:ext>
            </a:extLst>
          </p:cNvPr>
          <p:cNvSpPr txBox="1"/>
          <p:nvPr/>
        </p:nvSpPr>
        <p:spPr>
          <a:xfrm>
            <a:off x="841727" y="1820254"/>
            <a:ext cx="6755484" cy="378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Scope </a:t>
            </a:r>
            <a:r>
              <a:rPr lang="es-MX" dirty="0" err="1">
                <a:solidFill>
                  <a:schemeClr val="bg1"/>
                </a:solidFill>
              </a:rPr>
              <a:t>creep</a:t>
            </a:r>
            <a:r>
              <a:rPr lang="es-MX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CL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bg1"/>
                </a:solidFill>
              </a:rPr>
              <a:t>Retraso en hitos y entregas importantes.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CL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bg1"/>
                </a:solidFill>
              </a:rPr>
              <a:t>Disponibilidad del equipo de trabajo.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CL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bg1"/>
                </a:solidFill>
              </a:rPr>
              <a:t>Poca aceptación de los usuarios.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CL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bg1"/>
                </a:solidFill>
              </a:rPr>
              <a:t>Problemas técnicos en la fase de desarrollo</a:t>
            </a:r>
            <a:endParaRPr lang="es-MX" dirty="0">
              <a:solidFill>
                <a:schemeClr val="bg1"/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AE0DEEA6-6BE8-12D1-5592-D3B27CFACED7}"/>
              </a:ext>
            </a:extLst>
          </p:cNvPr>
          <p:cNvGrpSpPr/>
          <p:nvPr/>
        </p:nvGrpSpPr>
        <p:grpSpPr>
          <a:xfrm>
            <a:off x="841727" y="546930"/>
            <a:ext cx="2880000" cy="540000"/>
            <a:chOff x="786213" y="521293"/>
            <a:chExt cx="2880000" cy="540000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032AC6CA-C53A-5493-154E-37F392B6BC78}"/>
                </a:ext>
              </a:extLst>
            </p:cNvPr>
            <p:cNvCxnSpPr/>
            <p:nvPr/>
          </p:nvCxnSpPr>
          <p:spPr>
            <a:xfrm>
              <a:off x="786213" y="521293"/>
              <a:ext cx="0" cy="54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22D99637-052D-9D8B-8A3F-5FC678DD9E65}"/>
                </a:ext>
              </a:extLst>
            </p:cNvPr>
            <p:cNvCxnSpPr>
              <a:cxnSpLocks/>
            </p:cNvCxnSpPr>
            <p:nvPr/>
          </p:nvCxnSpPr>
          <p:spPr>
            <a:xfrm>
              <a:off x="786213" y="1061293"/>
              <a:ext cx="288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B7EFF28F-B004-F7B6-F346-79049DEC0080}"/>
              </a:ext>
            </a:extLst>
          </p:cNvPr>
          <p:cNvSpPr txBox="1"/>
          <p:nvPr/>
        </p:nvSpPr>
        <p:spPr>
          <a:xfrm>
            <a:off x="1031888" y="555724"/>
            <a:ext cx="249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+mj-lt"/>
              </a:rPr>
              <a:t>Riesgos</a:t>
            </a:r>
            <a:endParaRPr lang="es-CL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4374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1827A9-D0A6-68FD-56FF-EDF9A688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91A9698-138A-7EF7-D536-2E1DD2B84D6C}"/>
              </a:ext>
            </a:extLst>
          </p:cNvPr>
          <p:cNvSpPr txBox="1"/>
          <p:nvPr/>
        </p:nvSpPr>
        <p:spPr>
          <a:xfrm>
            <a:off x="841727" y="2136449"/>
            <a:ext cx="68409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b="1" dirty="0">
                <a:solidFill>
                  <a:schemeClr val="bg1"/>
                </a:solidFill>
              </a:rPr>
              <a:t>Protección Robusta:</a:t>
            </a:r>
            <a:r>
              <a:rPr lang="es-CL" dirty="0">
                <a:solidFill>
                  <a:schemeClr val="bg1"/>
                </a:solidFill>
              </a:rPr>
              <a:t> Transmisión de datos cifrada con altos estándares de la industria.</a:t>
            </a:r>
          </a:p>
          <a:p>
            <a:pPr>
              <a:lnSpc>
                <a:spcPct val="100000"/>
              </a:lnSpc>
            </a:pPr>
            <a:endParaRPr lang="es-CL" dirty="0">
              <a:solidFill>
                <a:schemeClr val="bg1"/>
              </a:solidFill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b="1" dirty="0">
                <a:solidFill>
                  <a:schemeClr val="bg1"/>
                </a:solidFill>
              </a:rPr>
              <a:t>Gobernanza de Datos:</a:t>
            </a:r>
            <a:r>
              <a:rPr lang="es-CL" dirty="0">
                <a:solidFill>
                  <a:schemeClr val="bg1"/>
                </a:solidFill>
              </a:rPr>
              <a:t> Control total sobre la información mediante roles y permisos de acceso estrictos.</a:t>
            </a:r>
          </a:p>
          <a:p>
            <a:pPr>
              <a:lnSpc>
                <a:spcPct val="100000"/>
              </a:lnSpc>
            </a:pPr>
            <a:endParaRPr lang="es-CL" dirty="0">
              <a:solidFill>
                <a:schemeClr val="bg1"/>
              </a:solidFill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b="1" dirty="0">
                <a:solidFill>
                  <a:schemeClr val="bg1"/>
                </a:solidFill>
              </a:rPr>
              <a:t>Continuidad del Negocio:</a:t>
            </a:r>
            <a:r>
              <a:rPr lang="es-CL" dirty="0">
                <a:solidFill>
                  <a:schemeClr val="bg1"/>
                </a:solidFill>
              </a:rPr>
              <a:t> Copias de seguridad automáticas y cumplimiento normativo vigente.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390B5309-AFE7-FC5D-3943-045FF3DC6525}"/>
              </a:ext>
            </a:extLst>
          </p:cNvPr>
          <p:cNvGrpSpPr/>
          <p:nvPr/>
        </p:nvGrpSpPr>
        <p:grpSpPr>
          <a:xfrm>
            <a:off x="841727" y="546930"/>
            <a:ext cx="2880000" cy="540000"/>
            <a:chOff x="786213" y="521293"/>
            <a:chExt cx="2880000" cy="540000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D49C6877-7C02-A0B1-6852-A782D0833B94}"/>
                </a:ext>
              </a:extLst>
            </p:cNvPr>
            <p:cNvCxnSpPr/>
            <p:nvPr/>
          </p:nvCxnSpPr>
          <p:spPr>
            <a:xfrm>
              <a:off x="786213" y="521293"/>
              <a:ext cx="0" cy="54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C3521BD6-4204-0E71-F755-DBBAB6CCE063}"/>
                </a:ext>
              </a:extLst>
            </p:cNvPr>
            <p:cNvCxnSpPr>
              <a:cxnSpLocks/>
            </p:cNvCxnSpPr>
            <p:nvPr/>
          </p:nvCxnSpPr>
          <p:spPr>
            <a:xfrm>
              <a:off x="786213" y="1061293"/>
              <a:ext cx="288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9666F5D7-0D7C-5AA5-C7DD-4D7A07ACF763}"/>
              </a:ext>
            </a:extLst>
          </p:cNvPr>
          <p:cNvSpPr txBox="1"/>
          <p:nvPr/>
        </p:nvSpPr>
        <p:spPr>
          <a:xfrm>
            <a:off x="1031888" y="555724"/>
            <a:ext cx="249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+mj-lt"/>
              </a:rPr>
              <a:t>Seguridad</a:t>
            </a:r>
            <a:endParaRPr lang="es-CL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5871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D825B-358F-A2CE-A250-7CEE3EDF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3F496617-0BEE-4BF7-6A40-8117DD9B74C6}"/>
              </a:ext>
            </a:extLst>
          </p:cNvPr>
          <p:cNvGrpSpPr/>
          <p:nvPr/>
        </p:nvGrpSpPr>
        <p:grpSpPr>
          <a:xfrm>
            <a:off x="841727" y="546930"/>
            <a:ext cx="2880000" cy="540000"/>
            <a:chOff x="786213" y="521293"/>
            <a:chExt cx="2880000" cy="540000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B89DF86A-4D6B-761A-5F37-4993F134A769}"/>
                </a:ext>
              </a:extLst>
            </p:cNvPr>
            <p:cNvCxnSpPr/>
            <p:nvPr/>
          </p:nvCxnSpPr>
          <p:spPr>
            <a:xfrm>
              <a:off x="786213" y="521293"/>
              <a:ext cx="0" cy="54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6EF7597D-2A65-90CE-3D62-FBC24A092902}"/>
                </a:ext>
              </a:extLst>
            </p:cNvPr>
            <p:cNvCxnSpPr>
              <a:cxnSpLocks/>
            </p:cNvCxnSpPr>
            <p:nvPr/>
          </p:nvCxnSpPr>
          <p:spPr>
            <a:xfrm>
              <a:off x="786213" y="1061293"/>
              <a:ext cx="288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C787C829-A612-8ECC-0E31-797BE398CEFB}"/>
              </a:ext>
            </a:extLst>
          </p:cNvPr>
          <p:cNvSpPr txBox="1"/>
          <p:nvPr/>
        </p:nvSpPr>
        <p:spPr>
          <a:xfrm>
            <a:off x="1031888" y="555724"/>
            <a:ext cx="249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+mj-lt"/>
              </a:rPr>
              <a:t>Mockup</a:t>
            </a:r>
            <a:endParaRPr lang="es-CL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4CADBF1-5FA0-8754-A84B-4A58294E244E}"/>
              </a:ext>
            </a:extLst>
          </p:cNvPr>
          <p:cNvGrpSpPr/>
          <p:nvPr/>
        </p:nvGrpSpPr>
        <p:grpSpPr>
          <a:xfrm>
            <a:off x="310676" y="1738690"/>
            <a:ext cx="11570648" cy="4032380"/>
            <a:chOff x="90484" y="1480628"/>
            <a:chExt cx="11570648" cy="403238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6E23BAAD-6828-52B2-5B03-4331678CF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84" y="1559288"/>
              <a:ext cx="2057170" cy="3953720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9F326FED-0D0E-6B28-6F43-F76E6D32C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6212" y="1559288"/>
              <a:ext cx="2070708" cy="3944204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F107B9B3-4849-961B-31FB-0985C5499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15478" y="1493200"/>
              <a:ext cx="2005146" cy="3997720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3DF132E4-540A-825C-6A3E-99710D43E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731" y="1512056"/>
              <a:ext cx="2024004" cy="3978864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6464B18C-4D0B-4DE9-E93E-32E0942DB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0842" y="1480628"/>
              <a:ext cx="2030290" cy="40102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6617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4048F-0A51-1547-B1AC-CC69CED3A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D8B02-7FDE-FD35-ECC3-F577360F7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5774"/>
            <a:ext cx="9144000" cy="1026452"/>
          </a:xfrm>
        </p:spPr>
        <p:txBody>
          <a:bodyPr>
            <a:normAutofit/>
          </a:bodyPr>
          <a:lstStyle/>
          <a:p>
            <a:r>
              <a:rPr lang="es-MX" u="sng" dirty="0">
                <a:solidFill>
                  <a:schemeClr val="accent1"/>
                </a:solidFill>
              </a:rPr>
              <a:t>Conclusión</a:t>
            </a:r>
            <a:endParaRPr lang="es-CL" u="sng" dirty="0">
              <a:solidFill>
                <a:schemeClr val="accent1"/>
              </a:solidFill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C3FB05D-F257-1453-9D11-FA3D82CB4972}"/>
              </a:ext>
            </a:extLst>
          </p:cNvPr>
          <p:cNvGrpSpPr/>
          <p:nvPr/>
        </p:nvGrpSpPr>
        <p:grpSpPr>
          <a:xfrm>
            <a:off x="666571" y="555477"/>
            <a:ext cx="1800000" cy="1800000"/>
            <a:chOff x="666571" y="555477"/>
            <a:chExt cx="1800000" cy="1800000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36AE21F0-9FA5-9C66-DF8C-F2CB0AE8F8CC}"/>
                </a:ext>
              </a:extLst>
            </p:cNvPr>
            <p:cNvCxnSpPr/>
            <p:nvPr/>
          </p:nvCxnSpPr>
          <p:spPr>
            <a:xfrm>
              <a:off x="666571" y="555477"/>
              <a:ext cx="1800000" cy="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C5B731D4-E085-520D-A716-6B4B86BC25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572" y="555477"/>
              <a:ext cx="0" cy="180000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97B0F812-76AD-768A-9542-98B0219854F7}"/>
              </a:ext>
            </a:extLst>
          </p:cNvPr>
          <p:cNvGrpSpPr/>
          <p:nvPr/>
        </p:nvGrpSpPr>
        <p:grpSpPr>
          <a:xfrm>
            <a:off x="9725428" y="4484588"/>
            <a:ext cx="1800000" cy="1800000"/>
            <a:chOff x="9801881" y="4357800"/>
            <a:chExt cx="1800000" cy="1800000"/>
          </a:xfrm>
        </p:grpSpPr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6D1331FC-6749-70FE-28A6-E3D51B36AA8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01880" y="5257800"/>
              <a:ext cx="1800000" cy="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05D9BC12-B1D8-3A66-F8A5-F4B275658AC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0701881" y="5257800"/>
              <a:ext cx="0" cy="180000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AC00E75-E8EA-811C-33EF-0E7FA95B8195}"/>
              </a:ext>
            </a:extLst>
          </p:cNvPr>
          <p:cNvGrpSpPr/>
          <p:nvPr/>
        </p:nvGrpSpPr>
        <p:grpSpPr>
          <a:xfrm rot="16200000">
            <a:off x="666571" y="4502524"/>
            <a:ext cx="1800000" cy="1800000"/>
            <a:chOff x="666571" y="555477"/>
            <a:chExt cx="1800000" cy="1800000"/>
          </a:xfrm>
        </p:grpSpPr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AF6D210B-8735-DB71-071E-4FA9EAB077FC}"/>
                </a:ext>
              </a:extLst>
            </p:cNvPr>
            <p:cNvCxnSpPr/>
            <p:nvPr/>
          </p:nvCxnSpPr>
          <p:spPr>
            <a:xfrm>
              <a:off x="666571" y="555477"/>
              <a:ext cx="1800000" cy="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22647290-651A-5B82-D83E-FFFEA7BEA8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572" y="555477"/>
              <a:ext cx="0" cy="180000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D6E56B9D-13A2-D158-6A09-D7F4B98FA047}"/>
              </a:ext>
            </a:extLst>
          </p:cNvPr>
          <p:cNvGrpSpPr/>
          <p:nvPr/>
        </p:nvGrpSpPr>
        <p:grpSpPr>
          <a:xfrm rot="16200000">
            <a:off x="9725428" y="555477"/>
            <a:ext cx="1800000" cy="1800000"/>
            <a:chOff x="9801881" y="4357800"/>
            <a:chExt cx="1800000" cy="1800000"/>
          </a:xfrm>
        </p:grpSpPr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4488377-5AC6-96C8-D400-03941F08FF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01880" y="5257800"/>
              <a:ext cx="1800000" cy="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B771FAC-5FE3-EE29-1F76-52B2EC14A990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0701881" y="5257800"/>
              <a:ext cx="0" cy="180000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36202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">
      <a:dk1>
        <a:srgbClr val="1E293B"/>
      </a:dk1>
      <a:lt1>
        <a:srgbClr val="E2E8F0"/>
      </a:lt1>
      <a:dk2>
        <a:srgbClr val="0F172A"/>
      </a:dk2>
      <a:lt2>
        <a:srgbClr val="FFFFFF"/>
      </a:lt2>
      <a:accent1>
        <a:srgbClr val="EAB308"/>
      </a:accent1>
      <a:accent2>
        <a:srgbClr val="CA8A04"/>
      </a:accent2>
      <a:accent3>
        <a:srgbClr val="64748B"/>
      </a:accent3>
      <a:accent4>
        <a:srgbClr val="38BDF8"/>
      </a:accent4>
      <a:accent5>
        <a:srgbClr val="10B981"/>
      </a:accent5>
      <a:accent6>
        <a:srgbClr val="94A3B8"/>
      </a:accent6>
      <a:hlink>
        <a:srgbClr val="F59E0B"/>
      </a:hlink>
      <a:folHlink>
        <a:srgbClr val="94A3B8"/>
      </a:folHlink>
    </a:clrScheme>
    <a:fontScheme name="Personalizado 1">
      <a:majorFont>
        <a:latin typeface="Montserrat Extra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328</Words>
  <Application>Microsoft Office PowerPoint</Application>
  <PresentationFormat>Panorámica</PresentationFormat>
  <Paragraphs>65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Inter</vt:lpstr>
      <vt:lpstr>Montserrat ExtraBold</vt:lpstr>
      <vt:lpstr>Tema de Office</vt:lpstr>
      <vt:lpstr>EventApp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Alzion Destt</dc:creator>
  <cp:lastModifiedBy>Benjamín Díaz</cp:lastModifiedBy>
  <cp:revision>13</cp:revision>
  <dcterms:created xsi:type="dcterms:W3CDTF">2025-07-23T00:59:00Z</dcterms:created>
  <dcterms:modified xsi:type="dcterms:W3CDTF">2026-09-02T00:22:30Z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3EA4C230D22F4036B2EC09D41B17602C_13</vt:lpwstr>
  </property>
  <property fmtid="{D5CDD505-2E9C-101B-9397-08002B2CF9AE}" pid="3" name="KSOProductBuildVer">
    <vt:lpwstr>2052-12.1.0.21915</vt:lpwstr>
  </property>
</Properties>
</file>